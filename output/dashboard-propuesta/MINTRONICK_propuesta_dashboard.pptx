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slides/charts/chart1.xml" ContentType="application/vnd.openxmlformats-officedocument.drawingml.chart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9557d396d24239" /><Relationship Type="http://schemas.openxmlformats.org/officeDocument/2006/relationships/extended-properties" Target="/docProps/app.xml" Id="Rf12e3da57e704806" /><Relationship Type="http://schemas.openxmlformats.org/officeDocument/2006/relationships/officeDocument" Target="/ppt/presentation.xml" Id="R8eccc85719284b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5cabcab16648f6"/>
  </p:sldMasterIdLst>
  <p:notesMasterIdLst>
    <p:notesMasterId xmlns:r="http://schemas.openxmlformats.org/officeDocument/2006/relationships" r:id="Rcf831d7d4b7040d5"/>
  </p:notesMasterIdLst>
  <p:sldIdLst>
    <p:sldId xmlns:r="http://schemas.openxmlformats.org/officeDocument/2006/relationships" id="256" r:id="R74661040a2924bac"/>
    <p:sldId xmlns:r="http://schemas.openxmlformats.org/officeDocument/2006/relationships" id="257" r:id="R4a39b5b0372146af"/>
    <p:sldId xmlns:r="http://schemas.openxmlformats.org/officeDocument/2006/relationships" id="258" r:id="R91e1be2b6dab4f04"/>
    <p:sldId xmlns:r="http://schemas.openxmlformats.org/officeDocument/2006/relationships" id="259" r:id="R1664620b1f074ed3"/>
    <p:sldId xmlns:r="http://schemas.openxmlformats.org/officeDocument/2006/relationships" id="260" r:id="Rd5d755662c8c4974"/>
    <p:sldId xmlns:r="http://schemas.openxmlformats.org/officeDocument/2006/relationships" id="261" r:id="R3ff9086f1c324754"/>
    <p:sldId xmlns:r="http://schemas.openxmlformats.org/officeDocument/2006/relationships" id="262" r:id="R76abfd1a823b4427"/>
    <p:sldId xmlns:r="http://schemas.openxmlformats.org/officeDocument/2006/relationships" id="263" r:id="R321bee75d6e242e5"/>
    <p:sldId xmlns:r="http://schemas.openxmlformats.org/officeDocument/2006/relationships" id="264" r:id="R916a2e515e9b486a"/>
    <p:sldId xmlns:r="http://schemas.openxmlformats.org/officeDocument/2006/relationships" id="265" r:id="R15568b8528684da6"/>
    <p:sldId xmlns:r="http://schemas.openxmlformats.org/officeDocument/2006/relationships" id="266" r:id="Rdcdceb58ef1d4a73"/>
    <p:sldId xmlns:r="http://schemas.openxmlformats.org/officeDocument/2006/relationships" id="267" r:id="R8efbb11e82234fb3"/>
    <p:sldId xmlns:r="http://schemas.openxmlformats.org/officeDocument/2006/relationships" id="268" r:id="R27bedf12ca1f4d9f"/>
    <p:sldId xmlns:r="http://schemas.openxmlformats.org/officeDocument/2006/relationships" id="269" r:id="R6754585d7506489d"/>
    <p:sldId xmlns:r="http://schemas.openxmlformats.org/officeDocument/2006/relationships" id="270" r:id="R09d419717ceb41e0"/>
    <p:sldId xmlns:r="http://schemas.openxmlformats.org/officeDocument/2006/relationships" id="271" r:id="R1f7cedd446304639"/>
    <p:sldId xmlns:r="http://schemas.openxmlformats.org/officeDocument/2006/relationships" id="272" r:id="Reffe699e3a8a4bce"/>
    <p:sldId xmlns:r="http://schemas.openxmlformats.org/officeDocument/2006/relationships" id="273" r:id="R2eadcdf6a95d4418"/>
    <p:sldId xmlns:r="http://schemas.openxmlformats.org/officeDocument/2006/relationships" id="274" r:id="Rbd9e073c8eaa4b97"/>
    <p:sldId xmlns:r="http://schemas.openxmlformats.org/officeDocument/2006/relationships" id="275" r:id="Rdaadaf8191f74fa4"/>
    <p:sldId xmlns:r="http://schemas.openxmlformats.org/officeDocument/2006/relationships" id="276" r:id="R2fda0f521cc148d6"/>
    <p:sldId xmlns:r="http://schemas.openxmlformats.org/officeDocument/2006/relationships" id="277" r:id="Rc81bdd99f016488d"/>
    <p:sldId xmlns:r="http://schemas.openxmlformats.org/officeDocument/2006/relationships" id="278" r:id="Re0a80fcac114460b"/>
    <p:sldId xmlns:r="http://schemas.openxmlformats.org/officeDocument/2006/relationships" id="279" r:id="Rc059acce5bc84009"/>
    <p:sldId xmlns:r="http://schemas.openxmlformats.org/officeDocument/2006/relationships" id="280" r:id="R49070b1a14d548c2"/>
    <p:sldId xmlns:r="http://schemas.openxmlformats.org/officeDocument/2006/relationships" id="281" r:id="R5668c7cd5e56458f"/>
    <p:sldId xmlns:r="http://schemas.openxmlformats.org/officeDocument/2006/relationships" id="282" r:id="R8460902083804e19"/>
    <p:sldId xmlns:r="http://schemas.openxmlformats.org/officeDocument/2006/relationships" id="283" r:id="Rf28ec1b00f2847cc"/>
    <p:sldId xmlns:r="http://schemas.openxmlformats.org/officeDocument/2006/relationships" id="284" r:id="R5b1933f9cff44c2b"/>
    <p:sldId xmlns:r="http://schemas.openxmlformats.org/officeDocument/2006/relationships" id="285" r:id="R9e675b74fae94130"/>
    <p:sldId xmlns:r="http://schemas.openxmlformats.org/officeDocument/2006/relationships" id="286" r:id="Rf818c15f5f4c4a23"/>
    <p:sldId xmlns:r="http://schemas.openxmlformats.org/officeDocument/2006/relationships" id="287" r:id="Rf513bd006dc24c40"/>
    <p:sldId xmlns:r="http://schemas.openxmlformats.org/officeDocument/2006/relationships" id="288" r:id="R4f1534da400943d2"/>
    <p:sldId xmlns:r="http://schemas.openxmlformats.org/officeDocument/2006/relationships" id="289" r:id="R14f15cbcd1b247f5"/>
    <p:sldId xmlns:r="http://schemas.openxmlformats.org/officeDocument/2006/relationships" id="290" r:id="R76ea22c1ab29467f"/>
    <p:sldId xmlns:r="http://schemas.openxmlformats.org/officeDocument/2006/relationships" id="291" r:id="R75e80349066d4929"/>
    <p:sldId xmlns:r="http://schemas.openxmlformats.org/officeDocument/2006/relationships" id="292" r:id="Rab5de4817a8446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cf73b1289a4200" /><Relationship Type="http://schemas.openxmlformats.org/officeDocument/2006/relationships/slideMaster" Target="/ppt/slideMasters/slideMaster1.xml" Id="Rc85cabcab16648f6" /><Relationship Type="http://schemas.openxmlformats.org/officeDocument/2006/relationships/notesMaster" Target="/ppt/notesMasters/notesMaster1.xml" Id="Rcf831d7d4b7040d5" /><Relationship Type="http://schemas.openxmlformats.org/officeDocument/2006/relationships/presProps" Target="/ppt/presProps.xml" Id="R0ae004be91bb40a8" /><Relationship Type="http://schemas.openxmlformats.org/officeDocument/2006/relationships/tableStyles" Target="/ppt/tableStyles.xml" Id="Ref76750075ce47e6" /><Relationship Type="http://schemas.openxmlformats.org/officeDocument/2006/relationships/slide" Target="/ppt/slides/slide1.xml" Id="R74661040a2924bac" /><Relationship Type="http://schemas.openxmlformats.org/officeDocument/2006/relationships/slide" Target="/ppt/slides/slide2.xml" Id="R4a39b5b0372146af" /><Relationship Type="http://schemas.openxmlformats.org/officeDocument/2006/relationships/slide" Target="/ppt/slides/slide3.xml" Id="R91e1be2b6dab4f04" /><Relationship Type="http://schemas.openxmlformats.org/officeDocument/2006/relationships/slide" Target="/ppt/slides/slide4.xml" Id="R1664620b1f074ed3" /><Relationship Type="http://schemas.openxmlformats.org/officeDocument/2006/relationships/slide" Target="/ppt/slides/slide5.xml" Id="Rd5d755662c8c4974" /><Relationship Type="http://schemas.openxmlformats.org/officeDocument/2006/relationships/slide" Target="/ppt/slides/slide6.xml" Id="R3ff9086f1c324754" /><Relationship Type="http://schemas.openxmlformats.org/officeDocument/2006/relationships/slide" Target="/ppt/slides/slide7.xml" Id="R76abfd1a823b4427" /><Relationship Type="http://schemas.openxmlformats.org/officeDocument/2006/relationships/slide" Target="/ppt/slides/slide8.xml" Id="R321bee75d6e242e5" /><Relationship Type="http://schemas.openxmlformats.org/officeDocument/2006/relationships/slide" Target="/ppt/slides/slide9.xml" Id="R916a2e515e9b486a" /><Relationship Type="http://schemas.openxmlformats.org/officeDocument/2006/relationships/slide" Target="/ppt/slides/slide10.xml" Id="R15568b8528684da6" /><Relationship Type="http://schemas.openxmlformats.org/officeDocument/2006/relationships/slide" Target="/ppt/slides/slide11.xml" Id="Rdcdceb58ef1d4a73" /><Relationship Type="http://schemas.openxmlformats.org/officeDocument/2006/relationships/slide" Target="/ppt/slides/slide12.xml" Id="R8efbb11e82234fb3" /><Relationship Type="http://schemas.openxmlformats.org/officeDocument/2006/relationships/slide" Target="/ppt/slides/slide13.xml" Id="R27bedf12ca1f4d9f" /><Relationship Type="http://schemas.openxmlformats.org/officeDocument/2006/relationships/slide" Target="/ppt/slides/slide14.xml" Id="R6754585d7506489d" /><Relationship Type="http://schemas.openxmlformats.org/officeDocument/2006/relationships/slide" Target="/ppt/slides/slide15.xml" Id="R09d419717ceb41e0" /><Relationship Type="http://schemas.openxmlformats.org/officeDocument/2006/relationships/slide" Target="/ppt/slides/slide16.xml" Id="R1f7cedd446304639" /><Relationship Type="http://schemas.openxmlformats.org/officeDocument/2006/relationships/slide" Target="/ppt/slides/slide17.xml" Id="Reffe699e3a8a4bce" /><Relationship Type="http://schemas.openxmlformats.org/officeDocument/2006/relationships/slide" Target="/ppt/slides/slide18.xml" Id="R2eadcdf6a95d4418" /><Relationship Type="http://schemas.openxmlformats.org/officeDocument/2006/relationships/slide" Target="/ppt/slides/slide19.xml" Id="Rbd9e073c8eaa4b97" /><Relationship Type="http://schemas.openxmlformats.org/officeDocument/2006/relationships/slide" Target="/ppt/slides/slide20.xml" Id="Rdaadaf8191f74fa4" /><Relationship Type="http://schemas.openxmlformats.org/officeDocument/2006/relationships/slide" Target="/ppt/slides/slide21.xml" Id="R2fda0f521cc148d6" /><Relationship Type="http://schemas.openxmlformats.org/officeDocument/2006/relationships/slide" Target="/ppt/slides/slide22.xml" Id="Rc81bdd99f016488d" /><Relationship Type="http://schemas.openxmlformats.org/officeDocument/2006/relationships/slide" Target="/ppt/slides/slide23.xml" Id="Re0a80fcac114460b" /><Relationship Type="http://schemas.openxmlformats.org/officeDocument/2006/relationships/slide" Target="/ppt/slides/slide24.xml" Id="Rc059acce5bc84009" /><Relationship Type="http://schemas.openxmlformats.org/officeDocument/2006/relationships/slide" Target="/ppt/slides/slide25.xml" Id="R49070b1a14d548c2" /><Relationship Type="http://schemas.openxmlformats.org/officeDocument/2006/relationships/slide" Target="/ppt/slides/slide26.xml" Id="R5668c7cd5e56458f" /><Relationship Type="http://schemas.openxmlformats.org/officeDocument/2006/relationships/slide" Target="/ppt/slides/slide27.xml" Id="R8460902083804e19" /><Relationship Type="http://schemas.openxmlformats.org/officeDocument/2006/relationships/slide" Target="/ppt/slides/slide28.xml" Id="Rf28ec1b00f2847cc" /><Relationship Type="http://schemas.openxmlformats.org/officeDocument/2006/relationships/slide" Target="/ppt/slides/slide29.xml" Id="R5b1933f9cff44c2b" /><Relationship Type="http://schemas.openxmlformats.org/officeDocument/2006/relationships/slide" Target="/ppt/slides/slide30.xml" Id="R9e675b74fae94130" /><Relationship Type="http://schemas.openxmlformats.org/officeDocument/2006/relationships/slide" Target="/ppt/slides/slide31.xml" Id="Rf818c15f5f4c4a23" /><Relationship Type="http://schemas.openxmlformats.org/officeDocument/2006/relationships/slide" Target="/ppt/slides/slide32.xml" Id="Rf513bd006dc24c40" /><Relationship Type="http://schemas.openxmlformats.org/officeDocument/2006/relationships/slide" Target="/ppt/slides/slide33.xml" Id="R4f1534da400943d2" /><Relationship Type="http://schemas.openxmlformats.org/officeDocument/2006/relationships/slide" Target="/ppt/slides/slide34.xml" Id="R14f15cbcd1b247f5" /><Relationship Type="http://schemas.openxmlformats.org/officeDocument/2006/relationships/slide" Target="/ppt/slides/slide35.xml" Id="R76ea22c1ab29467f" /><Relationship Type="http://schemas.openxmlformats.org/officeDocument/2006/relationships/slide" Target="/ppt/slides/slide36.xml" Id="R75e80349066d4929" /><Relationship Type="http://schemas.openxmlformats.org/officeDocument/2006/relationships/slide" Target="/ppt/slides/slide37.xml" Id="Rab5de4817a8446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2ce2fb387b4a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1c9bb84e9c4700" /><Relationship Type="http://schemas.openxmlformats.org/officeDocument/2006/relationships/notesMaster" Target="/ppt/notesMasters/notesMaster1.xml" Id="Rbc13337f17b34d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992e4b57944644" /><Relationship Type="http://schemas.openxmlformats.org/officeDocument/2006/relationships/notesMaster" Target="/ppt/notesMasters/notesMaster1.xml" Id="R5735f8d4904443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186f58c1ad44b2" /><Relationship Type="http://schemas.openxmlformats.org/officeDocument/2006/relationships/notesMaster" Target="/ppt/notesMasters/notesMaster1.xml" Id="R1cba75230a724e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c4bb2417e84477" /><Relationship Type="http://schemas.openxmlformats.org/officeDocument/2006/relationships/notesMaster" Target="/ppt/notesMasters/notesMaster1.xml" Id="Rc09bdecdf19742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8ef53e2d284ef0" /><Relationship Type="http://schemas.openxmlformats.org/officeDocument/2006/relationships/notesMaster" Target="/ppt/notesMasters/notesMaster1.xml" Id="Re47e357da6584b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70c614aee643e7" /><Relationship Type="http://schemas.openxmlformats.org/officeDocument/2006/relationships/notesMaster" Target="/ppt/notesMasters/notesMaster1.xml" Id="R83957882ba4644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24228278e64970" /><Relationship Type="http://schemas.openxmlformats.org/officeDocument/2006/relationships/notesMaster" Target="/ppt/notesMasters/notesMaster1.xml" Id="Re5ced12d7d514c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418536145d4d25" /><Relationship Type="http://schemas.openxmlformats.org/officeDocument/2006/relationships/notesMaster" Target="/ppt/notesMasters/notesMaster1.xml" Id="R3ae8f3a3db3b4c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b6b1c80bad448e" /><Relationship Type="http://schemas.openxmlformats.org/officeDocument/2006/relationships/notesMaster" Target="/ppt/notesMasters/notesMaster1.xml" Id="R2624f1c3520843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741764919e4f1f" /><Relationship Type="http://schemas.openxmlformats.org/officeDocument/2006/relationships/notesMaster" Target="/ppt/notesMasters/notesMaster1.xml" Id="R43193f9fd5504c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a8661402e34768" /><Relationship Type="http://schemas.openxmlformats.org/officeDocument/2006/relationships/notesMaster" Target="/ppt/notesMasters/notesMaster1.xml" Id="R95abd0d0345d46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0525343fdd4780" /><Relationship Type="http://schemas.openxmlformats.org/officeDocument/2006/relationships/notesMaster" Target="/ppt/notesMasters/notesMaster1.xml" Id="R5f8d48af6d73440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774c03bdeed42c7" /><Relationship Type="http://schemas.openxmlformats.org/officeDocument/2006/relationships/notesMaster" Target="/ppt/notesMasters/notesMaster1.xml" Id="R2f8e63a4370f452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cdf6c0c6c144de8" /><Relationship Type="http://schemas.openxmlformats.org/officeDocument/2006/relationships/notesMaster" Target="/ppt/notesMasters/notesMaster1.xml" Id="R9ab10a32b4dd4ef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7956ecd676a4872" /><Relationship Type="http://schemas.openxmlformats.org/officeDocument/2006/relationships/notesMaster" Target="/ppt/notesMasters/notesMaster1.xml" Id="R7d5b402ce1cb4a8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5f64ced8f764d46" /><Relationship Type="http://schemas.openxmlformats.org/officeDocument/2006/relationships/notesMaster" Target="/ppt/notesMasters/notesMaster1.xml" Id="R004067d7fbf34da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536616b83a8481a" /><Relationship Type="http://schemas.openxmlformats.org/officeDocument/2006/relationships/notesMaster" Target="/ppt/notesMasters/notesMaster1.xml" Id="R2ae9a26318e74b6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97943db428647cc" /><Relationship Type="http://schemas.openxmlformats.org/officeDocument/2006/relationships/notesMaster" Target="/ppt/notesMasters/notesMaster1.xml" Id="R1f70c4d3baae4ab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94df7157fdc4217" /><Relationship Type="http://schemas.openxmlformats.org/officeDocument/2006/relationships/notesMaster" Target="/ppt/notesMasters/notesMaster1.xml" Id="Rdabf0c000d7b407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958bd9a62864db8" /><Relationship Type="http://schemas.openxmlformats.org/officeDocument/2006/relationships/notesMaster" Target="/ppt/notesMasters/notesMaster1.xml" Id="R58e4faee444143b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8cd95b615134c06" /><Relationship Type="http://schemas.openxmlformats.org/officeDocument/2006/relationships/notesMaster" Target="/ppt/notesMasters/notesMaster1.xml" Id="Rf08f7058b604416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2348e0c063540ab" /><Relationship Type="http://schemas.openxmlformats.org/officeDocument/2006/relationships/notesMaster" Target="/ppt/notesMasters/notesMaster1.xml" Id="R90d718fe5b8344e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b8dc41152d44536" /><Relationship Type="http://schemas.openxmlformats.org/officeDocument/2006/relationships/notesMaster" Target="/ppt/notesMasters/notesMaster1.xml" Id="Rbc68a125e634460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6ef838013074572" /><Relationship Type="http://schemas.openxmlformats.org/officeDocument/2006/relationships/notesMaster" Target="/ppt/notesMasters/notesMaster1.xml" Id="Rc890246f6b6c452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ab96941a8fe4a00" /><Relationship Type="http://schemas.openxmlformats.org/officeDocument/2006/relationships/notesMaster" Target="/ppt/notesMasters/notesMaster1.xml" Id="Rbd20f412c85e414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093549d6a2b4f1a" /><Relationship Type="http://schemas.openxmlformats.org/officeDocument/2006/relationships/notesMaster" Target="/ppt/notesMasters/notesMaster1.xml" Id="R050c939448a4416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fe1d20c9dec4e9b" /><Relationship Type="http://schemas.openxmlformats.org/officeDocument/2006/relationships/notesMaster" Target="/ppt/notesMasters/notesMaster1.xml" Id="R6e7e537a6684437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bc9ffcacfc54546" /><Relationship Type="http://schemas.openxmlformats.org/officeDocument/2006/relationships/notesMaster" Target="/ppt/notesMasters/notesMaster1.xml" Id="Reba344227c3a4f2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38bf3ebae954fee" /><Relationship Type="http://schemas.openxmlformats.org/officeDocument/2006/relationships/notesMaster" Target="/ppt/notesMasters/notesMaster1.xml" Id="R75bf6f0979ea488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34676588da24167" /><Relationship Type="http://schemas.openxmlformats.org/officeDocument/2006/relationships/notesMaster" Target="/ppt/notesMasters/notesMaster1.xml" Id="Ra0c01549f299430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3e60042747e48d3" /><Relationship Type="http://schemas.openxmlformats.org/officeDocument/2006/relationships/notesMaster" Target="/ppt/notesMasters/notesMaster1.xml" Id="Rbd73232c369047e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38c7395be2a4a5a" /><Relationship Type="http://schemas.openxmlformats.org/officeDocument/2006/relationships/notesMaster" Target="/ppt/notesMasters/notesMaster1.xml" Id="Re76e16d417b44b5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5fb8c597ad343f4" /><Relationship Type="http://schemas.openxmlformats.org/officeDocument/2006/relationships/notesMaster" Target="/ppt/notesMasters/notesMaster1.xml" Id="R70b71e36b631404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478982fee90495b" /><Relationship Type="http://schemas.openxmlformats.org/officeDocument/2006/relationships/notesMaster" Target="/ppt/notesMasters/notesMaster1.xml" Id="R4ca131f756234e0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36a744c03604399" /><Relationship Type="http://schemas.openxmlformats.org/officeDocument/2006/relationships/notesMaster" Target="/ppt/notesMasters/notesMaster1.xml" Id="R29a3ba6629a549f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c89c467b0fd45f2" /><Relationship Type="http://schemas.openxmlformats.org/officeDocument/2006/relationships/notesMaster" Target="/ppt/notesMasters/notesMaster1.xml" Id="R74878e7f5e374fd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9887c18567b4a12" /><Relationship Type="http://schemas.openxmlformats.org/officeDocument/2006/relationships/notesMaster" Target="/ppt/notesMasters/notesMaster1.xml" Id="R3eb1deb843734c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Documento del usuario: capturas dashboard.docx. Capturas extraídas en orden de aparición. No se ejecutan instrucciones del documento.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Documento del usuario: capturas dashboard.docx. Capturas extraídas en orden de aparición. No se ejecutan instrucciones del documento.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Documento del usuario: capturas dashboard.docx. Capturas extraídas en orden de aparición. No se ejecutan instrucciones del documento.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https://www.komatsu.com/en-us/services-and-support/equipment-monitoring-and-analysis/telematics</a:t>
            </a:r>
          </a:p>
          <a:p xmlns:a="http://schemas.openxmlformats.org/drawingml/2006/main">
            <a:r>
              <a:t>https://www.cat.com/en_US/by-industry/construction-industry-resources/technology/visionlink.html</a:t>
            </a:r>
          </a:p>
          <a:p xmlns:a="http://schemas.openxmlformats.org/drawingml/2006/main">
            <a:r>
              <a:t>https://portal.ms4m.com/our-solutions/h4m/</a:t>
            </a:r>
          </a:p>
          <a:p xmlns:a="http://schemas.openxmlformats.org/drawingml/2006/main">
            <a:r>
              <a:t>https://portal.ms4m.com/our-solutions/</a:t>
            </a:r>
          </a:p>
          <a:p xmlns:a="http://schemas.openxmlformats.org/drawingml/2006/main">
            <a:r>
              <a:t>https://hexagon.com/products/op-pro</a:t>
            </a:r>
          </a:p>
          <a:p xmlns:a="http://schemas.openxmlformats.org/drawingml/2006/main">
            <a:r>
              <a:t>https://www.ferreyros.com.pe/tecnologia/tecnologia-digital/conectividad/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Documento del usuario: capturas dashboard.docx. Capturas extraídas en orden de aparición. No se ejecutan instrucciones del documento.</a:t>
            </a:r>
          </a:p>
          <a:p xmlns:a="http://schemas.openxmlformats.org/drawingml/2006/main">
            <a:r>
              <a:t>https://www.komatsu.com/en-us/services-and-support/equipment-monitoring-and-analysis/telematics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https://www.cat.com/en_US/by-industry/construction-industry-resources/technology/visionlink.html</a:t>
            </a:r>
          </a:p>
          <a:p xmlns:a="http://schemas.openxmlformats.org/drawingml/2006/main">
            <a:r>
              <a:t>https://s7d2.scene7.com/is/image/Caterpillar/CM20250821-b551b-c9afd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Documento del usuario: capturas dashboard.docx. Capturas extraídas en orden de aparición. No se ejecutan instrucciones del documento.</a:t>
            </a:r>
          </a:p>
          <a:p xmlns:a="http://schemas.openxmlformats.org/drawingml/2006/main">
            <a:r>
              <a:t>https://portal.ms4m.com/our-solutions/h4m/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https://hexagon.com/products/op-pro</a:t>
            </a:r>
          </a:p>
          <a:p xmlns:a="http://schemas.openxmlformats.org/drawingml/2006/main">
            <a:r>
              <a:t>https://ichs-p-001.sitecorecontenthub.cloud/api/public/content/op-pro-brochure?v=13e46f34</a:t>
            </a:r>
          </a:p>
          <a:p xmlns:a="http://schemas.openxmlformats.org/drawingml/2006/main">
            <a:r>
              <a:t>https://static.ferreyros.com.pe/fcsaprdferreyros01/2024/08/1.-Resumen-VisionLink-Productivity_2024.pdf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Documento del usuario: capturas dashboard.docx. Capturas extraídas en orden de aparición. No se ejecutan instrucciones del documento.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Documento del usuario: capturas dashboard.docx. Capturas extraídas en orden de aparición. No se ejecutan instrucciones del documento.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Documento del usuario: capturas dashboard.docx. Capturas extraídas en orden de aparición. No se ejecutan instrucciones del documento.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Documento del usuario: capturas dashboard.docx. Capturas extraídas en orden de aparición. No se ejecutan instrucciones del documento.</a:t>
            </a:r>
          </a:p>
          <a:p xmlns:a="http://schemas.openxmlformats.org/drawingml/2006/main">
            <a:r>
              <a:t>https://portal.ms4m.com/our-solutions/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https://www.komatsu.com/en-us/services-and-support/equipment-monitoring-and-analysis/telematics</a:t>
            </a:r>
          </a:p>
          <a:p xmlns:a="http://schemas.openxmlformats.org/drawingml/2006/main">
            <a:r>
              <a:t>https://www.cat.com/en_US/by-industry/construction-industry-resources/technology/visionlink.html</a:t>
            </a:r>
          </a:p>
          <a:p xmlns:a="http://schemas.openxmlformats.org/drawingml/2006/main">
            <a:r>
              <a:t>https://portal.ms4m.com/our-solutions/h4m/</a:t>
            </a:r>
          </a:p>
          <a:p xmlns:a="http://schemas.openxmlformats.org/drawingml/2006/main">
            <a:r>
              <a:t>https://portal.ms4m.com/our-solutions/</a:t>
            </a:r>
          </a:p>
          <a:p xmlns:a="http://schemas.openxmlformats.org/drawingml/2006/main">
            <a:r>
              <a:t>https://hexagon.com/products/op-pro</a:t>
            </a:r>
          </a:p>
          <a:p xmlns:a="http://schemas.openxmlformats.org/drawingml/2006/main">
            <a:r>
              <a:t>https://ichs-p-001.sitecorecontenthub.cloud/api/public/content/op-pro-brochure?v=13e46f34</a:t>
            </a:r>
          </a:p>
          <a:p xmlns:a="http://schemas.openxmlformats.org/drawingml/2006/main">
            <a:r>
              <a:t>https://www.ferreyros.com.pe/tecnologia/tecnologia-digital/conectividad/</a:t>
            </a:r>
          </a:p>
          <a:p xmlns:a="http://schemas.openxmlformats.org/drawingml/2006/main">
            <a:r>
              <a:t>https://static.ferreyros.com.pe/fcsaprdferreyros01/2024/08/1.-Resumen-VisionLink-Productivity_2024.pdf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Análisis y recomendaciones propios. Consulta de fuentes públicas: 31/08/2026. Capturas comerciales: ejemplos de interfaz, no garantía de capacidades disponibles en una suscripción.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85e18fda3740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2285c10c5c4734" /><Relationship Type="http://schemas.openxmlformats.org/officeDocument/2006/relationships/slideLayout" Target="/ppt/slideLayouts/slideLayout1.xml" Id="R091dd209ae684c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1dd209ae684c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3a68f185c4c7a" /><Relationship Type="http://schemas.openxmlformats.org/officeDocument/2006/relationships/notesSlide" Target="/ppt/notesSlides/notesSlide1.xml" Id="Ref6f0bb4840241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c7ba04f804520" /><Relationship Type="http://schemas.openxmlformats.org/officeDocument/2006/relationships/notesSlide" Target="/ppt/notesSlides/notesSlide2.xml" Id="R5abf509177fb4d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3eebe46c24e01" /><Relationship Type="http://schemas.openxmlformats.org/officeDocument/2006/relationships/image" Target="/ppt/media/image.png" Id="R21b9f7e32f0045f5" /><Relationship Type="http://schemas.openxmlformats.org/officeDocument/2006/relationships/notesSlide" Target="/ppt/notesSlides/notesSlide3.xml" Id="Rd8bfa23e600d4e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823f212a64408" /><Relationship Type="http://schemas.openxmlformats.org/officeDocument/2006/relationships/image" Target="/ppt/media/image2.png" Id="R8fea13a3998649b6" /><Relationship Type="http://schemas.openxmlformats.org/officeDocument/2006/relationships/notesSlide" Target="/ppt/notesSlides/notesSlide4.xml" Id="Rfd758a06a2cc41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b958fe3ff49ef" /><Relationship Type="http://schemas.openxmlformats.org/officeDocument/2006/relationships/notesSlide" Target="/ppt/notesSlides/notesSlide5.xml" Id="R1126350d679a4b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6cdde65f5469f" /><Relationship Type="http://schemas.openxmlformats.org/officeDocument/2006/relationships/notesSlide" Target="/ppt/notesSlides/notesSlide6.xml" Id="R9b8f9a2efce54a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84f0bd9174a7f" /><Relationship Type="http://schemas.openxmlformats.org/officeDocument/2006/relationships/image" Target="/ppt/media/image.jpeg" Id="Rf5bb2024d0c641b7" /><Relationship Type="http://schemas.openxmlformats.org/officeDocument/2006/relationships/notesSlide" Target="/ppt/notesSlides/notesSlide7.xml" Id="R9c58ef2fcdb24b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c0c82fa264778" /><Relationship Type="http://schemas.openxmlformats.org/officeDocument/2006/relationships/image" Target="/ppt/media/image2.jpeg" Id="Rf87aca30bf554b3b" /><Relationship Type="http://schemas.openxmlformats.org/officeDocument/2006/relationships/notesSlide" Target="/ppt/notesSlides/notesSlide8.xml" Id="R4c52a663ef8c4c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34926bc414b31" /><Relationship Type="http://schemas.openxmlformats.org/officeDocument/2006/relationships/image" Target="/ppt/media/image3.jpeg" Id="Rc33592b8e4594024" /><Relationship Type="http://schemas.openxmlformats.org/officeDocument/2006/relationships/notesSlide" Target="/ppt/notesSlides/notesSlide9.xml" Id="Ra161f6f66dde43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ec544eab64a64" /><Relationship Type="http://schemas.openxmlformats.org/officeDocument/2006/relationships/notesSlide" Target="/ppt/notesSlides/notesSlide10.xml" Id="R944ca3adddb040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86be4f1c548d4" /><Relationship Type="http://schemas.openxmlformats.org/officeDocument/2006/relationships/notesSlide" Target="/ppt/notesSlides/notesSlide11.xml" Id="R04d6a0699d2a45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8f0c70d7e4a71" /><Relationship Type="http://schemas.openxmlformats.org/officeDocument/2006/relationships/notesSlide" Target="/ppt/notesSlides/notesSlide12.xml" Id="Rfcc2319a6b584f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a0281ec8746f8" /><Relationship Type="http://schemas.openxmlformats.org/officeDocument/2006/relationships/image" Target="/ppt/media/image3.png" Id="R916aecf0564d4787" /><Relationship Type="http://schemas.openxmlformats.org/officeDocument/2006/relationships/notesSlide" Target="/ppt/notesSlides/notesSlide13.xml" Id="Rd6cd45ab585b47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3125363d44202" /><Relationship Type="http://schemas.openxmlformats.org/officeDocument/2006/relationships/notesSlide" Target="/ppt/notesSlides/notesSlide14.xml" Id="R590593e703b1446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afd9f31e84483" /><Relationship Type="http://schemas.openxmlformats.org/officeDocument/2006/relationships/image" Target="/ppt/media/image4.png" Id="Rb7494e90be194ecb" /><Relationship Type="http://schemas.openxmlformats.org/officeDocument/2006/relationships/notesSlide" Target="/ppt/notesSlides/notesSlide15.xml" Id="R2e20963ca29346f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5d6a6c0994efe" /><Relationship Type="http://schemas.openxmlformats.org/officeDocument/2006/relationships/notesSlide" Target="/ppt/notesSlides/notesSlide16.xml" Id="Rbe6fe31e5f4d436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7a1c5fc7b4c33" /><Relationship Type="http://schemas.openxmlformats.org/officeDocument/2006/relationships/notesSlide" Target="/ppt/notesSlides/notesSlide17.xml" Id="Re2aa925cbb4f4a9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53c0c968743b3" /><Relationship Type="http://schemas.openxmlformats.org/officeDocument/2006/relationships/notesSlide" Target="/ppt/notesSlides/notesSlide18.xml" Id="R05fd229640454f2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a573aee294f62" /><Relationship Type="http://schemas.openxmlformats.org/officeDocument/2006/relationships/notesSlide" Target="/ppt/notesSlides/notesSlide19.xml" Id="R9a8e259cab9f4c9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766384d5646b4" /><Relationship Type="http://schemas.openxmlformats.org/officeDocument/2006/relationships/image" Target="/ppt/media/image5.png" Id="R12dcc47723654872" /><Relationship Type="http://schemas.openxmlformats.org/officeDocument/2006/relationships/notesSlide" Target="/ppt/notesSlides/notesSlide20.xml" Id="Rc837ce66bd2840a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0cd8505ce4c0c" /><Relationship Type="http://schemas.openxmlformats.org/officeDocument/2006/relationships/notesSlide" Target="/ppt/notesSlides/notesSlide21.xml" Id="R7e53ba81074e4f1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9c6e3bb194ec9" /><Relationship Type="http://schemas.openxmlformats.org/officeDocument/2006/relationships/image" Target="/ppt/media/image6.png" Id="Rbc324b61e2314d4a" /><Relationship Type="http://schemas.openxmlformats.org/officeDocument/2006/relationships/notesSlide" Target="/ppt/notesSlides/notesSlide22.xml" Id="R59b0f51be8b8452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6e8a357bb4edf" /><Relationship Type="http://schemas.openxmlformats.org/officeDocument/2006/relationships/notesSlide" Target="/ppt/notesSlides/notesSlide23.xml" Id="R4c0e490190e5433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cc964757d4511" /><Relationship Type="http://schemas.openxmlformats.org/officeDocument/2006/relationships/notesSlide" Target="/ppt/notesSlides/notesSlide24.xml" Id="R607a1eccd2ec4da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1b74972bd46d8" /><Relationship Type="http://schemas.openxmlformats.org/officeDocument/2006/relationships/notesSlide" Target="/ppt/notesSlides/notesSlide25.xml" Id="Rc87b2d9afb6c4ff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145961b334b75" /><Relationship Type="http://schemas.openxmlformats.org/officeDocument/2006/relationships/notesSlide" Target="/ppt/notesSlides/notesSlide26.xml" Id="R669baa590db74d7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1504dbddc4342" /><Relationship Type="http://schemas.openxmlformats.org/officeDocument/2006/relationships/notesSlide" Target="/ppt/notesSlides/notesSlide27.xml" Id="Ra1cb499823da412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de0791194459e" /><Relationship Type="http://schemas.openxmlformats.org/officeDocument/2006/relationships/notesSlide" Target="/ppt/notesSlides/notesSlide28.xml" Id="Rb81cec7feef0461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4ce6d8c5047c5" /><Relationship Type="http://schemas.openxmlformats.org/officeDocument/2006/relationships/notesSlide" Target="/ppt/notesSlides/notesSlide29.xml" Id="R1ab4a20d3e0e4ff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1b69d85474768" /><Relationship Type="http://schemas.openxmlformats.org/officeDocument/2006/relationships/notesSlide" Target="/ppt/notesSlides/notesSlide30.xml" Id="Re333fceedef0445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bf1a8dc554275" /><Relationship Type="http://schemas.openxmlformats.org/officeDocument/2006/relationships/chart" Target="/ppt/slides/charts/chart1.xml" Id="R67e597df7e7048a4" /><Relationship Type="http://schemas.openxmlformats.org/officeDocument/2006/relationships/notesSlide" Target="/ppt/notesSlides/notesSlide31.xml" Id="R200d65ccaf55451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deee34d7344bd" /><Relationship Type="http://schemas.openxmlformats.org/officeDocument/2006/relationships/image" Target="/ppt/media/image7.png" Id="Rd36e9a30f8fa4cc9" /><Relationship Type="http://schemas.openxmlformats.org/officeDocument/2006/relationships/image" Target="/ppt/media/image8.png" Id="R71283622b9684f1a" /><Relationship Type="http://schemas.openxmlformats.org/officeDocument/2006/relationships/image" Target="/ppt/media/image9.png" Id="R4c43fb39bada4003" /><Relationship Type="http://schemas.openxmlformats.org/officeDocument/2006/relationships/notesSlide" Target="/ppt/notesSlides/notesSlide32.xml" Id="R513702be16104c0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ccad23eee4313" /><Relationship Type="http://schemas.openxmlformats.org/officeDocument/2006/relationships/image" Target="/ppt/media/image10.png" Id="R25462f95064a4297" /><Relationship Type="http://schemas.openxmlformats.org/officeDocument/2006/relationships/image" Target="/ppt/media/image11.png" Id="R4642826302c641bf" /><Relationship Type="http://schemas.openxmlformats.org/officeDocument/2006/relationships/notesSlide" Target="/ppt/notesSlides/notesSlide33.xml" Id="Ra5455f581598440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17fb1ca434bee" /><Relationship Type="http://schemas.openxmlformats.org/officeDocument/2006/relationships/image" Target="/ppt/media/image12.png" Id="R87528b74b58846d8" /><Relationship Type="http://schemas.openxmlformats.org/officeDocument/2006/relationships/image" Target="/ppt/media/image13.png" Id="Rb8b9acb76f384c5e" /><Relationship Type="http://schemas.openxmlformats.org/officeDocument/2006/relationships/image" Target="/ppt/media/image14.png" Id="R7380955abf154fd7" /><Relationship Type="http://schemas.openxmlformats.org/officeDocument/2006/relationships/image" Target="/ppt/media/image15.png" Id="R7d6b021bc09544d9" /><Relationship Type="http://schemas.openxmlformats.org/officeDocument/2006/relationships/notesSlide" Target="/ppt/notesSlides/notesSlide34.xml" Id="Raa3dc4d66aa8404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9af00393f42c2" /><Relationship Type="http://schemas.openxmlformats.org/officeDocument/2006/relationships/image" Target="/ppt/media/image4.jpeg" Id="Rea1c7e676d0648a7" /><Relationship Type="http://schemas.openxmlformats.org/officeDocument/2006/relationships/image" Target="/ppt/media/image5.jpeg" Id="R19c704ba94aa46e2" /><Relationship Type="http://schemas.openxmlformats.org/officeDocument/2006/relationships/notesSlide" Target="/ppt/notesSlides/notesSlide35.xml" Id="Rccb2b030a74049c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c9a83b8644c13" /><Relationship Type="http://schemas.openxmlformats.org/officeDocument/2006/relationships/hyperlink" Target="https://www.komatsu.com/en-us/services-and-support/equipment-monitoring-and-analysis/telematics" TargetMode="External" Id="Re34e726e942d4464" /><Relationship Type="http://schemas.openxmlformats.org/officeDocument/2006/relationships/hyperlink" Target="https://www.cat.com/en_US/by-industry/construction-industry-resources/technology/visionlink.html" TargetMode="External" Id="R6a868d905536452e" /><Relationship Type="http://schemas.openxmlformats.org/officeDocument/2006/relationships/hyperlink" Target="https://portal.ms4m.com/our-solutions/h4m/" TargetMode="External" Id="R967f112b42f04a22" /><Relationship Type="http://schemas.openxmlformats.org/officeDocument/2006/relationships/hyperlink" Target="https://portal.ms4m.com/our-solutions/" TargetMode="External" Id="Rf42a0be82e274108" /><Relationship Type="http://schemas.openxmlformats.org/officeDocument/2006/relationships/hyperlink" Target="https://hexagon.com/products/op-pro" TargetMode="External" Id="R3713ceb297434b9c" /><Relationship Type="http://schemas.openxmlformats.org/officeDocument/2006/relationships/hyperlink" Target="https://www.ferreyros.com.pe/tecnologia/tecnologia-digital/conectividad/" TargetMode="External" Id="Rd355df65f3234c17" /><Relationship Type="http://schemas.openxmlformats.org/officeDocument/2006/relationships/hyperlink" Target="https://static.ferreyros.com.pe/fcsaprdferreyros01/2024/08/1.-Resumen-VisionLink-Productivity_2024.pdf" TargetMode="External" Id="R0e18afc0a556402e" /><Relationship Type="http://schemas.openxmlformats.org/officeDocument/2006/relationships/notesSlide" Target="/ppt/notesSlides/notesSlide36.xml" Id="Rf13c9bb5a7324b4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35f618a9f4db1" /><Relationship Type="http://schemas.openxmlformats.org/officeDocument/2006/relationships/notesSlide" Target="/ppt/notesSlides/notesSlide37.xml" Id="R8b86c2940dcd4832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Velocidad</c:v>
          </c:tx>
          <c:spPr>
            <a:ln xmlns:a="http://schemas.openxmlformats.org/drawingml/2006/main" w="38100">
              <a:solidFill>
                <a:srgbClr val="245DB5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245DB5"/>
              </a:solidFill>
            </c:spPr>
          </c:marker>
          <c:cat>
            <c:strLit>
              <c:ptCount val="5"/>
              <c:pt idx="0">
                <c:v>10:00</c:v>
              </c:pt>
              <c:pt idx="1">
                <c:v>10:01</c:v>
              </c:pt>
              <c:pt idx="2">
                <c:v>10:02</c:v>
              </c:pt>
              <c:pt idx="3">
                <c:v>10:03</c:v>
              </c:pt>
              <c:pt idx="4">
                <c:v>10:04</c:v>
              </c:pt>
            </c:strLit>
          </c:cat>
          <c:val>
            <c:numLit>
              <c:formatCode>General</c:formatCode>
              <c:ptCount val="5"/>
              <c:pt idx="0">
                <c:v>20</c:v>
              </c:pt>
              <c:pt idx="1">
                <c:v>30</c:v>
              </c:pt>
              <c:pt idx="2">
                <c:v>46</c:v>
              </c:pt>
              <c:pt idx="3">
                <c:v>34</c:v>
              </c:pt>
              <c:pt idx="4">
                <c:v>20</c:v>
              </c:pt>
            </c:numLit>
          </c:val>
        </c:ser>
        <c:ser>
          <c:idx val="1"/>
          <c:order val="1"/>
          <c:tx>
            <c:v>Límite</c:v>
          </c:tx>
          <c:spPr>
            <a:ln xmlns:a="http://schemas.openxmlformats.org/drawingml/2006/main" w="19050">
              <a:solidFill>
                <a:srgbClr val="B42318"/>
              </a:solidFill>
            </a:ln>
          </c:spPr>
          <c:marker>
            <c:symbol val="none"/>
          </c:marker>
          <c:cat>
            <c:strLit>
              <c:ptCount val="5"/>
              <c:pt idx="0">
                <c:v>10:00</c:v>
              </c:pt>
              <c:pt idx="1">
                <c:v>10:01</c:v>
              </c:pt>
              <c:pt idx="2">
                <c:v>10:02</c:v>
              </c:pt>
              <c:pt idx="3">
                <c:v>10:03</c:v>
              </c:pt>
              <c:pt idx="4">
                <c:v>10:04</c:v>
              </c:pt>
            </c:strLit>
          </c:cat>
          <c:val>
            <c:numLit>
              <c:formatCode>General</c:formatCode>
              <c:ptCount val="5"/>
              <c:pt idx="0">
                <c:v>40</c:v>
              </c:pt>
              <c:pt idx="1">
                <c:v>40</c:v>
              </c:pt>
              <c:pt idx="2">
                <c:v>40</c:v>
              </c:pt>
              <c:pt idx="3">
                <c:v>40</c:v>
              </c:pt>
              <c:pt idx="4">
                <c:v>40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36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3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km/h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36D"/>
                </a:solidFill>
              </a:defRPr>
            </a:pPr>
          </a:p>
        </c:txPr>
        <c:crossAx val="48650112"/>
        <c:crossBetween val="between"/>
        <c:majorUnit val="20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VISIÓN DE PRODUCTO">
            <a:extLst xmlns:a="http://schemas.openxmlformats.org/drawingml/2006/main">
              <a:ext uri="{FF2B5EF4-FFF2-40B4-BE49-F238E27FC236}">
                <a16:creationId xmlns:a16="http://schemas.microsoft.com/office/drawing/2014/main" id="{D6365DC3-A7CE-4CA2-A598-9E3EC6B1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VISIÓN DE PRODUCTO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45EC3-3369-40BC-B6CA-0A58FF22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MINTRONICK · Propuesta para revisión · Agosto 2026">
            <a:extLst xmlns:a="http://schemas.openxmlformats.org/drawingml/2006/main">
              <a:ext uri="{FF2B5EF4-FFF2-40B4-BE49-F238E27FC236}">
                <a16:creationId xmlns:a16="http://schemas.microsoft.com/office/drawing/2014/main" id="{F3CA3A6D-2C28-4C47-80F0-2A4420BE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MINTRONICK · Propuesta para revisión · Agosto 2026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A606AF12-1743-4BEE-B8DF-E500FF61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Un dashboard que&#10;ayude a decidir">
            <a:extLst xmlns:a="http://schemas.openxmlformats.org/drawingml/2006/main">
              <a:ext uri="{FF2B5EF4-FFF2-40B4-BE49-F238E27FC236}">
                <a16:creationId xmlns:a16="http://schemas.microsoft.com/office/drawing/2014/main" id="{A150E1D1-1431-490A-A011-47C75382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Un dashboard que</a:t>
            </a:r>
          </a:p>
          <a:p xmlns:a="http://schemas.openxmlformats.org/drawingml/2006/main">
            <a:pPr>
              <a:defRPr sz="58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ayude a decidir</a:t>
            </a:r>
          </a:p>
        </p:txBody>
      </p:sp>
      <p:sp>
        <p:nvSpPr>
          <p:cNvPr id="6" name="Flota, salud, ubicación e historial con una razón para cada dato.">
            <a:extLst xmlns:a="http://schemas.openxmlformats.org/drawingml/2006/main">
              <a:ext uri="{FF2B5EF4-FFF2-40B4-BE49-F238E27FC236}">
                <a16:creationId xmlns:a16="http://schemas.microsoft.com/office/drawing/2014/main" id="{FE7D5E68-812B-4E61-9B58-5DED7C49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Flota, salud, ubicación e historial con una razón para cada dato.</a:t>
            </a:r>
          </a:p>
        </p:txBody>
      </p:sp>
      <p:sp>
        <p:nvSpPr>
          <p:cNvPr id="7" name="Análisis de tus 15 capturas + referencias del sector + propuesta ">
            <a:extLst xmlns:a="http://schemas.openxmlformats.org/drawingml/2006/main">
              <a:ext uri="{FF2B5EF4-FFF2-40B4-BE49-F238E27FC236}">
                <a16:creationId xmlns:a16="http://schemas.microsoft.com/office/drawing/2014/main" id="{01520182-0DC5-4065-9462-3ECF2AE0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87F86"/>
                </a:solidFill>
                <a:latin typeface="Arial"/>
                <a:ea typeface="Arial"/>
                <a:cs typeface="Arial"/>
              </a:rPr>
              <a:t>Análisis de tus 15 capturas + referencias del sector + propuesta visual</a:t>
            </a:r>
          </a:p>
        </p:txBody>
      </p:sp>
    </p:spTree>
    <p:extLst>
      <p:ext uri="{BB962C8B-B14F-4D97-AF65-F5344CB8AC3E}">
        <p14:creationId xmlns:p14="http://schemas.microsoft.com/office/powerpoint/2010/main" val="13503214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ROPUESTA">
            <a:extLst xmlns:a="http://schemas.openxmlformats.org/drawingml/2006/main">
              <a:ext uri="{FF2B5EF4-FFF2-40B4-BE49-F238E27FC236}">
                <a16:creationId xmlns:a16="http://schemas.microsoft.com/office/drawing/2014/main" id="{47B447A0-CC97-4D42-86C8-8CDEE928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PROPUESTA</a:t>
            </a:r>
          </a:p>
        </p:txBody>
      </p:sp>
      <p:sp>
        <p:nvSpPr>
          <p:cNvPr id="2" name="Primero la decisión, después el gráfico">
            <a:extLst xmlns:a="http://schemas.openxmlformats.org/drawingml/2006/main">
              <a:ext uri="{FF2B5EF4-FFF2-40B4-BE49-F238E27FC236}">
                <a16:creationId xmlns:a16="http://schemas.microsoft.com/office/drawing/2014/main" id="{5839FC28-8D5B-4825-A332-4D8D4209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Primero la decisión, después el gráfico</a:t>
            </a:r>
          </a:p>
        </p:txBody>
      </p:sp>
      <p:sp>
        <p:nvSpPr>
          <p:cNvPr id="3" name="Propuesta MINTRONICK · Reglas y datos de ejemplo por validar">
            <a:extLst xmlns:a="http://schemas.openxmlformats.org/drawingml/2006/main">
              <a:ext uri="{FF2B5EF4-FFF2-40B4-BE49-F238E27FC236}">
                <a16:creationId xmlns:a16="http://schemas.microsoft.com/office/drawing/2014/main" id="{0AA06902-3248-4133-B279-DC33E0F6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Propuesta MINTRONICK · Reglas y datos de ejemplo por validar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18967A6C-ACF1-45E8-90B0-F558EAC7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Supervisor">
            <a:extLst xmlns:a="http://schemas.openxmlformats.org/drawingml/2006/main">
              <a:ext uri="{FF2B5EF4-FFF2-40B4-BE49-F238E27FC236}">
                <a16:creationId xmlns:a16="http://schemas.microsoft.com/office/drawing/2014/main" id="{FDFC0127-17A7-4909-BAAC-36F3DD61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Supervisor</a:t>
            </a:r>
          </a:p>
        </p:txBody>
      </p:sp>
      <p:sp>
        <p:nvSpPr>
          <p:cNvPr id="6" name="¿Qué equipo requiere atención ahora?&#10;&#10;Priorizar alertas y abrir e">
            <a:extLst xmlns:a="http://schemas.openxmlformats.org/drawingml/2006/main">
              <a:ext uri="{FF2B5EF4-FFF2-40B4-BE49-F238E27FC236}">
                <a16:creationId xmlns:a16="http://schemas.microsoft.com/office/drawing/2014/main" id="{12DE369D-D6CB-4C80-B121-60612E29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¿Qué equipo requiere atención ahora?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Priorizar alertas y abrir el equipo afectado.</a:t>
            </a:r>
          </a:p>
        </p:txBody>
      </p:sp>
      <p:sp>
        <p:nvSpPr>
          <p:cNvPr id="7" name="Mantenimiento">
            <a:extLst xmlns:a="http://schemas.openxmlformats.org/drawingml/2006/main">
              <a:ext uri="{FF2B5EF4-FFF2-40B4-BE49-F238E27FC236}">
                <a16:creationId xmlns:a16="http://schemas.microsoft.com/office/drawing/2014/main" id="{A8A3EC37-4CDB-41A3-8050-56C6C935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Mantenimiento</a:t>
            </a:r>
          </a:p>
        </p:txBody>
      </p:sp>
      <p:sp>
        <p:nvSpPr>
          <p:cNvPr id="8" name="¿Qué cambió y desde cuándo?&#10;&#10;Consultar tendencias, evidencias y s">
            <a:extLst xmlns:a="http://schemas.openxmlformats.org/drawingml/2006/main">
              <a:ext uri="{FF2B5EF4-FFF2-40B4-BE49-F238E27FC236}">
                <a16:creationId xmlns:a16="http://schemas.microsoft.com/office/drawing/2014/main" id="{A407FA01-F5C1-4F13-AF67-BD4B936F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¿Qué cambió y desde cuándo?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Consultar tendencias, evidencias y servicios próximos.</a:t>
            </a:r>
          </a:p>
        </p:txBody>
      </p:sp>
      <p:sp>
        <p:nvSpPr>
          <p:cNvPr id="9" name="Cliente / gerencia">
            <a:extLst xmlns:a="http://schemas.openxmlformats.org/drawingml/2006/main">
              <a:ext uri="{FF2B5EF4-FFF2-40B4-BE49-F238E27FC236}">
                <a16:creationId xmlns:a16="http://schemas.microsoft.com/office/drawing/2014/main" id="{51A17777-4A11-47CF-A98C-6CF7599A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Cliente / gerencia</a:t>
            </a:r>
          </a:p>
        </p:txBody>
      </p:sp>
      <p:sp>
        <p:nvSpPr>
          <p:cNvPr id="10" name="¿Dónde se pierde tiempo y dinero?&#10;&#10;Revisar uso, ralentí, cobertur">
            <a:extLst xmlns:a="http://schemas.openxmlformats.org/drawingml/2006/main">
              <a:ext uri="{FF2B5EF4-FFF2-40B4-BE49-F238E27FC236}">
                <a16:creationId xmlns:a16="http://schemas.microsoft.com/office/drawing/2014/main" id="{AF7586CF-6F8C-4F61-AA64-B923E1FD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¿Dónde se pierde tiempo y dinero?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Revisar uso, ralentí, cobertura y evolución por turno.</a:t>
            </a:r>
          </a:p>
        </p:txBody>
      </p:sp>
    </p:spTree>
    <p:extLst>
      <p:ext uri="{BB962C8B-B14F-4D97-AF65-F5344CB8AC3E}">
        <p14:creationId xmlns:p14="http://schemas.microsoft.com/office/powerpoint/2010/main" val="14328109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FERENCIA VISUAL">
            <a:extLst xmlns:a="http://schemas.openxmlformats.org/drawingml/2006/main">
              <a:ext uri="{FF2B5EF4-FFF2-40B4-BE49-F238E27FC236}">
                <a16:creationId xmlns:a16="http://schemas.microsoft.com/office/drawing/2014/main" id="{E5F6128F-8A70-4BD1-9C23-A176844D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REFERENCIA VISUAL</a:t>
            </a:r>
          </a:p>
        </p:txBody>
      </p:sp>
      <p:sp>
        <p:nvSpPr>
          <p:cNvPr id="2" name="Tu vista actual sirve para diagnóstico">
            <a:extLst xmlns:a="http://schemas.openxmlformats.org/drawingml/2006/main">
              <a:ext uri="{FF2B5EF4-FFF2-40B4-BE49-F238E27FC236}">
                <a16:creationId xmlns:a16="http://schemas.microsoft.com/office/drawing/2014/main" id="{D090702C-279F-4B7B-AB36-990A1CBE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Tu vista actual sirve para diagnóstico</a:t>
            </a:r>
          </a:p>
        </p:txBody>
      </p:sp>
      <p:sp>
        <p:nvSpPr>
          <p:cNvPr id="3" name="Referencia del documento del usuario · No es un diseño MINTRONICK">
            <a:extLst xmlns:a="http://schemas.openxmlformats.org/drawingml/2006/main">
              <a:ext uri="{FF2B5EF4-FFF2-40B4-BE49-F238E27FC236}">
                <a16:creationId xmlns:a16="http://schemas.microsoft.com/office/drawing/2014/main" id="{0399C613-BD3E-401D-B41B-54D41748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Referencia del documento del usuario · No es un diseño MINTRONICK nuevo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7D394A8F-06ED-4323-99C2-CDAAB77C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9f7e32f0045f5"/>
          <a:stretch xmlns:a="http://schemas.openxmlformats.org/drawingml/2006/main"/>
        </p:blipFill>
        <p:spPr>
          <a:xfrm xmlns:a="http://schemas.openxmlformats.org/drawingml/2006/main">
            <a:off x="457200" y="2034816"/>
            <a:ext cx="7524750" cy="3636094"/>
          </a:xfrm>
          <a:prstGeom xmlns:a="http://schemas.openxmlformats.org/drawingml/2006/main" prst="rect">
            <a:avLst/>
          </a:prstGeom>
        </p:spPr>
      </p:pic>
      <p:sp>
        <p:nvSpPr>
          <p:cNvPr id="6" name="Conservar">
            <a:extLst xmlns:a="http://schemas.openxmlformats.org/drawingml/2006/main">
              <a:ext uri="{FF2B5EF4-FFF2-40B4-BE49-F238E27FC236}">
                <a16:creationId xmlns:a16="http://schemas.microsoft.com/office/drawing/2014/main" id="{4D22B854-A12C-4DCF-900F-2BF8028D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33550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Conservar</a:t>
            </a:r>
          </a:p>
        </p:txBody>
      </p:sp>
      <p:sp>
        <p:nvSpPr>
          <p:cNvPr id="7" name="Los parámetros técnicos y su trazabilidad.">
            <a:extLst xmlns:a="http://schemas.openxmlformats.org/drawingml/2006/main">
              <a:ext uri="{FF2B5EF4-FFF2-40B4-BE49-F238E27FC236}">
                <a16:creationId xmlns:a16="http://schemas.microsoft.com/office/drawing/2014/main" id="{22C52850-38B4-406B-AD40-5CA21033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6217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Los parámetros técnicos y su trazabilidad.</a:t>
            </a:r>
          </a:p>
        </p:txBody>
      </p:sp>
      <p:sp>
        <p:nvSpPr>
          <p:cNvPr id="8" name="Reubicar">
            <a:extLst xmlns:a="http://schemas.openxmlformats.org/drawingml/2006/main">
              <a:ext uri="{FF2B5EF4-FFF2-40B4-BE49-F238E27FC236}">
                <a16:creationId xmlns:a16="http://schemas.microsoft.com/office/drawing/2014/main" id="{D616A598-6667-4862-A041-BFB339CA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71825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Reubicar</a:t>
            </a:r>
          </a:p>
        </p:txBody>
      </p:sp>
      <p:sp>
        <p:nvSpPr>
          <p:cNvPr id="9" name="PGN, TS_UNIX, SIM y versión en Diagnóstico técnico.">
            <a:extLst xmlns:a="http://schemas.openxmlformats.org/drawingml/2006/main">
              <a:ext uri="{FF2B5EF4-FFF2-40B4-BE49-F238E27FC236}">
                <a16:creationId xmlns:a16="http://schemas.microsoft.com/office/drawing/2014/main" id="{7B313A68-EFFB-474E-9CC6-E1EB4E50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PGN, TS_UNIX, SIM y versión en Diagnóstico técnico.</a:t>
            </a:r>
          </a:p>
        </p:txBody>
      </p:sp>
      <p:sp>
        <p:nvSpPr>
          <p:cNvPr id="10" name="Corregir">
            <a:extLst xmlns:a="http://schemas.openxmlformats.org/drawingml/2006/main">
              <a:ext uri="{FF2B5EF4-FFF2-40B4-BE49-F238E27FC236}">
                <a16:creationId xmlns:a16="http://schemas.microsoft.com/office/drawing/2014/main" id="{3723180A-F5A6-41B2-AA9F-F2710667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10100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Corregir</a:t>
            </a:r>
          </a:p>
        </p:txBody>
      </p:sp>
      <p:sp>
        <p:nvSpPr>
          <p:cNvPr id="11" name="Lecturas de 17 y 28 de agosto conviven: mostrar antigüedad por se">
            <a:extLst xmlns:a="http://schemas.openxmlformats.org/drawingml/2006/main">
              <a:ext uri="{FF2B5EF4-FFF2-40B4-BE49-F238E27FC236}">
                <a16:creationId xmlns:a16="http://schemas.microsoft.com/office/drawing/2014/main" id="{0F635231-4408-4176-9D06-8C5D322F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3872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Lecturas de 17 y 28 de agosto conviven: mostrar antigüedad por señal.</a:t>
            </a:r>
          </a:p>
        </p:txBody>
      </p:sp>
    </p:spTree>
    <p:extLst>
      <p:ext uri="{BB962C8B-B14F-4D97-AF65-F5344CB8AC3E}">
        <p14:creationId xmlns:p14="http://schemas.microsoft.com/office/powerpoint/2010/main" val="1798756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FERENCIA VISUAL">
            <a:extLst xmlns:a="http://schemas.openxmlformats.org/drawingml/2006/main">
              <a:ext uri="{FF2B5EF4-FFF2-40B4-BE49-F238E27FC236}">
                <a16:creationId xmlns:a16="http://schemas.microsoft.com/office/drawing/2014/main" id="{A34709FD-5CF0-485C-990A-B408711F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REFERENCIA VISUAL</a:t>
            </a:r>
          </a:p>
        </p:txBody>
      </p:sp>
      <p:sp>
        <p:nvSpPr>
          <p:cNvPr id="2" name="El panel necesita contexto y prioridad">
            <a:extLst xmlns:a="http://schemas.openxmlformats.org/drawingml/2006/main">
              <a:ext uri="{FF2B5EF4-FFF2-40B4-BE49-F238E27FC236}">
                <a16:creationId xmlns:a16="http://schemas.microsoft.com/office/drawing/2014/main" id="{16A3F99C-949E-47F2-A952-8D5D1A90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El panel necesita contexto y prioridad</a:t>
            </a:r>
          </a:p>
        </p:txBody>
      </p:sp>
      <p:sp>
        <p:nvSpPr>
          <p:cNvPr id="3" name="Referencia del documento del usuario · No es un diseño MINTRONICK">
            <a:extLst xmlns:a="http://schemas.openxmlformats.org/drawingml/2006/main">
              <a:ext uri="{FF2B5EF4-FFF2-40B4-BE49-F238E27FC236}">
                <a16:creationId xmlns:a16="http://schemas.microsoft.com/office/drawing/2014/main" id="{AE7D67E6-5A56-4B6E-B455-39BCBE97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Referencia del documento del usuario · No es un diseño MINTRONICK nuevo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134383AA-639F-4621-BECB-5BBA741F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a13a3998649b6"/>
          <a:stretch xmlns:a="http://schemas.openxmlformats.org/drawingml/2006/main"/>
        </p:blipFill>
        <p:spPr>
          <a:xfrm xmlns:a="http://schemas.openxmlformats.org/drawingml/2006/main">
            <a:off x="457200" y="2156144"/>
            <a:ext cx="7524750" cy="3393437"/>
          </a:xfrm>
          <a:prstGeom xmlns:a="http://schemas.openxmlformats.org/drawingml/2006/main" prst="rect">
            <a:avLst/>
          </a:prstGeom>
        </p:spPr>
      </p:pic>
      <p:sp>
        <p:nvSpPr>
          <p:cNvPr id="6" name="Menos medidores">
            <a:extLst xmlns:a="http://schemas.openxmlformats.org/drawingml/2006/main">
              <a:ext uri="{FF2B5EF4-FFF2-40B4-BE49-F238E27FC236}">
                <a16:creationId xmlns:a16="http://schemas.microsoft.com/office/drawing/2014/main" id="{52ABC0BB-56B8-4E84-94F7-AF9B4091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33550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Menos medidores</a:t>
            </a:r>
          </a:p>
        </p:txBody>
      </p:sp>
      <p:sp>
        <p:nvSpPr>
          <p:cNvPr id="7" name="Priorizar pocas variables relevantes por tipo de máquina.">
            <a:extLst xmlns:a="http://schemas.openxmlformats.org/drawingml/2006/main">
              <a:ext uri="{FF2B5EF4-FFF2-40B4-BE49-F238E27FC236}">
                <a16:creationId xmlns:a16="http://schemas.microsoft.com/office/drawing/2014/main" id="{FF3DF05E-257D-46C4-A833-40C259CC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6217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Priorizar pocas variables relevantes por tipo de máquina.</a:t>
            </a:r>
          </a:p>
        </p:txBody>
      </p:sp>
      <p:sp>
        <p:nvSpPr>
          <p:cNvPr id="8" name="Cero no es ausencia">
            <a:extLst xmlns:a="http://schemas.openxmlformats.org/drawingml/2006/main">
              <a:ext uri="{FF2B5EF4-FFF2-40B4-BE49-F238E27FC236}">
                <a16:creationId xmlns:a16="http://schemas.microsoft.com/office/drawing/2014/main" id="{AA64300D-8C4F-420F-AE5F-AD9313C6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71825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Cero no es ausencia</a:t>
            </a:r>
          </a:p>
        </p:txBody>
      </p:sp>
      <p:sp>
        <p:nvSpPr>
          <p:cNvPr id="9" name="0 °C aparece como Normal. Validar origen; no sustituir nulos por ">
            <a:extLst xmlns:a="http://schemas.openxmlformats.org/drawingml/2006/main">
              <a:ext uri="{FF2B5EF4-FFF2-40B4-BE49-F238E27FC236}">
                <a16:creationId xmlns:a16="http://schemas.microsoft.com/office/drawing/2014/main" id="{B892D546-4A6D-4F1D-8141-DFA08C20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0 °C aparece como Normal. Validar origen; no sustituir nulos por cero.</a:t>
            </a:r>
          </a:p>
        </p:txBody>
      </p:sp>
      <p:sp>
        <p:nvSpPr>
          <p:cNvPr id="10" name="Contexto obligatorio">
            <a:extLst xmlns:a="http://schemas.openxmlformats.org/drawingml/2006/main">
              <a:ext uri="{FF2B5EF4-FFF2-40B4-BE49-F238E27FC236}">
                <a16:creationId xmlns:a16="http://schemas.microsoft.com/office/drawing/2014/main" id="{5C02E7CB-3229-4E6D-B25C-8F45A709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10100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Contexto obligatorio</a:t>
            </a:r>
          </a:p>
        </p:txBody>
      </p:sp>
      <p:sp>
        <p:nvSpPr>
          <p:cNvPr id="11" name="Valor + unidad + hora + rango válido + acción cuando corresponda.">
            <a:extLst xmlns:a="http://schemas.openxmlformats.org/drawingml/2006/main">
              <a:ext uri="{FF2B5EF4-FFF2-40B4-BE49-F238E27FC236}">
                <a16:creationId xmlns:a16="http://schemas.microsoft.com/office/drawing/2014/main" id="{CAB77E92-B17E-4F2A-B05F-E2EEB7B9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3872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Valor + unidad + hora + rango válido + acción cuando corresponda.</a:t>
            </a:r>
          </a:p>
        </p:txBody>
      </p:sp>
    </p:spTree>
    <p:extLst>
      <p:ext uri="{BB962C8B-B14F-4D97-AF65-F5344CB8AC3E}">
        <p14:creationId xmlns:p14="http://schemas.microsoft.com/office/powerpoint/2010/main" val="3694956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ANÁLISIS DEL DOCUMENTO">
            <a:extLst xmlns:a="http://schemas.openxmlformats.org/drawingml/2006/main">
              <a:ext uri="{FF2B5EF4-FFF2-40B4-BE49-F238E27FC236}">
                <a16:creationId xmlns:a16="http://schemas.microsoft.com/office/drawing/2014/main" id="{217A951A-236F-456E-867C-334983D0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ANÁLISIS DEL DOCUMENTO</a:t>
            </a:r>
          </a:p>
        </p:txBody>
      </p:sp>
      <p:sp>
        <p:nvSpPr>
          <p:cNvPr id="2" name="Todas tus capturas tienen un destino">
            <a:extLst xmlns:a="http://schemas.openxmlformats.org/drawingml/2006/main">
              <a:ext uri="{FF2B5EF4-FFF2-40B4-BE49-F238E27FC236}">
                <a16:creationId xmlns:a16="http://schemas.microsoft.com/office/drawing/2014/main" id="{4848369B-1F84-413C-9EB9-FF669521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Todas tus capturas tienen un destino</a:t>
            </a:r>
          </a:p>
        </p:txBody>
      </p:sp>
      <p:sp>
        <p:nvSpPr>
          <p:cNvPr id="3" name="Numeración de capturas según orden de extracción del DOCX">
            <a:extLst xmlns:a="http://schemas.openxmlformats.org/drawingml/2006/main">
              <a:ext uri="{FF2B5EF4-FFF2-40B4-BE49-F238E27FC236}">
                <a16:creationId xmlns:a16="http://schemas.microsoft.com/office/drawing/2014/main" id="{C80C3F97-7D96-4A88-AD69-4F9616D5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Numeración de capturas según orden de extracción del DOCX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72FF8720-2191-4AA0-A5FD-9A4C37C1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Capturas">
            <a:extLst xmlns:a="http://schemas.openxmlformats.org/drawingml/2006/main">
              <a:ext uri="{FF2B5EF4-FFF2-40B4-BE49-F238E27FC236}">
                <a16:creationId xmlns:a16="http://schemas.microsoft.com/office/drawing/2014/main" id="{A826324F-6700-441F-97B2-04E96C83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Capturas</a:t>
            </a:r>
          </a:p>
        </p:txBody>
      </p:sp>
      <p:sp>
        <p:nvSpPr>
          <p:cNvPr id="6" name="Idea observada">
            <a:extLst xmlns:a="http://schemas.openxmlformats.org/drawingml/2006/main">
              <a:ext uri="{FF2B5EF4-FFF2-40B4-BE49-F238E27FC236}">
                <a16:creationId xmlns:a16="http://schemas.microsoft.com/office/drawing/2014/main" id="{374E486B-15C6-4E63-96C1-F5946291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571625"/>
            <a:ext cx="422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Idea observada</a:t>
            </a:r>
          </a:p>
        </p:txBody>
      </p:sp>
      <p:sp>
        <p:nvSpPr>
          <p:cNvPr id="7" name="Destino propuesto">
            <a:extLst xmlns:a="http://schemas.openxmlformats.org/drawingml/2006/main">
              <a:ext uri="{FF2B5EF4-FFF2-40B4-BE49-F238E27FC236}">
                <a16:creationId xmlns:a16="http://schemas.microsoft.com/office/drawing/2014/main" id="{B3988B64-2563-4667-9D2D-5816A328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57162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Destino propuesto</a:t>
            </a:r>
          </a:p>
        </p:txBody>
      </p:sp>
      <p:sp>
        <p:nvSpPr>
          <p:cNvPr id="8" name="1–2">
            <a:extLst xmlns:a="http://schemas.openxmlformats.org/drawingml/2006/main">
              <a:ext uri="{FF2B5EF4-FFF2-40B4-BE49-F238E27FC236}">
                <a16:creationId xmlns:a16="http://schemas.microsoft.com/office/drawing/2014/main" id="{28F72873-BE74-4F1F-BA90-EF38CA40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771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1–2</a:t>
            </a:r>
          </a:p>
        </p:txBody>
      </p:sp>
      <p:sp>
        <p:nvSpPr>
          <p:cNvPr id="9" name="Parámetros y medidores">
            <a:extLst xmlns:a="http://schemas.openxmlformats.org/drawingml/2006/main">
              <a:ext uri="{FF2B5EF4-FFF2-40B4-BE49-F238E27FC236}">
                <a16:creationId xmlns:a16="http://schemas.microsoft.com/office/drawing/2014/main" id="{2367FD9E-77E4-4EBB-81C3-B0420126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95500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Parámetros y medidores</a:t>
            </a:r>
          </a:p>
        </p:txBody>
      </p:sp>
      <p:sp>
        <p:nvSpPr>
          <p:cNvPr id="10" name="Equipo + Diagnóstico técnico">
            <a:extLst xmlns:a="http://schemas.openxmlformats.org/drawingml/2006/main">
              <a:ext uri="{FF2B5EF4-FFF2-40B4-BE49-F238E27FC236}">
                <a16:creationId xmlns:a16="http://schemas.microsoft.com/office/drawing/2014/main" id="{D8864E78-FF50-4D1E-B8BC-18BB0ECF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95500"/>
            <a:ext cx="4629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Equipo + Diagnóstico técnico</a:t>
            </a:r>
          </a:p>
        </p:txBody>
      </p:sp>
      <p:sp>
        <p:nvSpPr>
          <p:cNvPr id="11" name="3–5">
            <a:extLst xmlns:a="http://schemas.openxmlformats.org/drawingml/2006/main">
              <a:ext uri="{FF2B5EF4-FFF2-40B4-BE49-F238E27FC236}">
                <a16:creationId xmlns:a16="http://schemas.microsoft.com/office/drawing/2014/main" id="{ECC83D83-40B0-4E2E-AA07-C83E6D9D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1771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3–5</a:t>
            </a:r>
          </a:p>
        </p:txBody>
      </p:sp>
      <p:sp>
        <p:nvSpPr>
          <p:cNvPr id="12" name="Mapa, historial y selector">
            <a:extLst xmlns:a="http://schemas.openxmlformats.org/drawingml/2006/main">
              <a:ext uri="{FF2B5EF4-FFF2-40B4-BE49-F238E27FC236}">
                <a16:creationId xmlns:a16="http://schemas.microsoft.com/office/drawing/2014/main" id="{5FA6DFA0-D784-40C0-985E-09BD32A5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76550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Mapa, historial y selector</a:t>
            </a:r>
          </a:p>
        </p:txBody>
      </p:sp>
      <p:sp>
        <p:nvSpPr>
          <p:cNvPr id="13" name="Mapa + Equipos + Historial">
            <a:extLst xmlns:a="http://schemas.openxmlformats.org/drawingml/2006/main">
              <a:ext uri="{FF2B5EF4-FFF2-40B4-BE49-F238E27FC236}">
                <a16:creationId xmlns:a16="http://schemas.microsoft.com/office/drawing/2014/main" id="{86B4C369-AFBB-4DF3-A864-9115BAEB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76550"/>
            <a:ext cx="4629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Mapa + Equipos + Historial</a:t>
            </a:r>
          </a:p>
        </p:txBody>
      </p:sp>
      <p:sp>
        <p:nvSpPr>
          <p:cNvPr id="14" name="6–7">
            <a:extLst xmlns:a="http://schemas.openxmlformats.org/drawingml/2006/main">
              <a:ext uri="{FF2B5EF4-FFF2-40B4-BE49-F238E27FC236}">
                <a16:creationId xmlns:a16="http://schemas.microsoft.com/office/drawing/2014/main" id="{EA97EA8A-015E-41DF-A455-0C1ECFC3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1771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6–7</a:t>
            </a:r>
          </a:p>
        </p:txBody>
      </p:sp>
      <p:sp>
        <p:nvSpPr>
          <p:cNvPr id="15" name="Tendencias, límites e histogramas">
            <a:extLst xmlns:a="http://schemas.openxmlformats.org/drawingml/2006/main">
              <a:ext uri="{FF2B5EF4-FFF2-40B4-BE49-F238E27FC236}">
                <a16:creationId xmlns:a16="http://schemas.microsoft.com/office/drawing/2014/main" id="{9D120834-20C9-452E-8ADF-4C872719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57600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Tendencias, límites e histogramas</a:t>
            </a:r>
          </a:p>
        </p:txBody>
      </p:sp>
      <p:sp>
        <p:nvSpPr>
          <p:cNvPr id="16" name="Historial con gráficos sincronizados">
            <a:extLst xmlns:a="http://schemas.openxmlformats.org/drawingml/2006/main">
              <a:ext uri="{FF2B5EF4-FFF2-40B4-BE49-F238E27FC236}">
                <a16:creationId xmlns:a16="http://schemas.microsoft.com/office/drawing/2014/main" id="{D292380E-AC36-4A40-BFE7-4F0C0D81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57600"/>
            <a:ext cx="4629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Historial con gráficos sincronizados</a:t>
            </a:r>
          </a:p>
        </p:txBody>
      </p:sp>
      <p:sp>
        <p:nvSpPr>
          <p:cNvPr id="17" name="8–11">
            <a:extLst xmlns:a="http://schemas.openxmlformats.org/drawingml/2006/main">
              <a:ext uri="{FF2B5EF4-FFF2-40B4-BE49-F238E27FC236}">
                <a16:creationId xmlns:a16="http://schemas.microsoft.com/office/drawing/2014/main" id="{53F48F89-EBB9-4488-BDD8-7EA2C235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1771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8–11</a:t>
            </a:r>
          </a:p>
        </p:txBody>
      </p:sp>
      <p:sp>
        <p:nvSpPr>
          <p:cNvPr id="18" name="Estados, producción y disponibilidad">
            <a:extLst xmlns:a="http://schemas.openxmlformats.org/drawingml/2006/main">
              <a:ext uri="{FF2B5EF4-FFF2-40B4-BE49-F238E27FC236}">
                <a16:creationId xmlns:a16="http://schemas.microsoft.com/office/drawing/2014/main" id="{4022B993-EC2C-4C1F-B909-2313C5FA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38650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Estados, producción y disponibilidad</a:t>
            </a:r>
          </a:p>
        </p:txBody>
      </p:sp>
      <p:sp>
        <p:nvSpPr>
          <p:cNvPr id="19" name="Operación; producción en fase posterior">
            <a:extLst xmlns:a="http://schemas.openxmlformats.org/drawingml/2006/main">
              <a:ext uri="{FF2B5EF4-FFF2-40B4-BE49-F238E27FC236}">
                <a16:creationId xmlns:a16="http://schemas.microsoft.com/office/drawing/2014/main" id="{108CC094-81A1-4EA2-AD2A-714D99E7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38650"/>
            <a:ext cx="4629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Operación; producción en fase posterior</a:t>
            </a:r>
          </a:p>
        </p:txBody>
      </p:sp>
      <p:sp>
        <p:nvSpPr>
          <p:cNvPr id="20" name="12–15">
            <a:extLst xmlns:a="http://schemas.openxmlformats.org/drawingml/2006/main">
              <a:ext uri="{FF2B5EF4-FFF2-40B4-BE49-F238E27FC236}">
                <a16:creationId xmlns:a16="http://schemas.microsoft.com/office/drawing/2014/main" id="{D2BB1D6C-D63B-4E74-8E45-33443344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771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12–15</a:t>
            </a:r>
          </a:p>
        </p:txBody>
      </p:sp>
      <p:sp>
        <p:nvSpPr>
          <p:cNvPr id="21" name="Salud, detalle, reportes y uso">
            <a:extLst xmlns:a="http://schemas.openxmlformats.org/drawingml/2006/main">
              <a:ext uri="{FF2B5EF4-FFF2-40B4-BE49-F238E27FC236}">
                <a16:creationId xmlns:a16="http://schemas.microsoft.com/office/drawing/2014/main" id="{E97C871D-CB08-4293-889D-9CC99D05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219700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Salud, detalle, reportes y uso</a:t>
            </a:r>
          </a:p>
        </p:txBody>
      </p:sp>
      <p:sp>
        <p:nvSpPr>
          <p:cNvPr id="22" name="Alertas + Salud + Reportes">
            <a:extLst xmlns:a="http://schemas.openxmlformats.org/drawingml/2006/main">
              <a:ext uri="{FF2B5EF4-FFF2-40B4-BE49-F238E27FC236}">
                <a16:creationId xmlns:a16="http://schemas.microsoft.com/office/drawing/2014/main" id="{B4075154-5C28-4192-9C6C-8E66EFA0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219700"/>
            <a:ext cx="4629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Alertas + Salud + Reportes</a:t>
            </a:r>
          </a:p>
        </p:txBody>
      </p:sp>
    </p:spTree>
    <p:extLst>
      <p:ext uri="{BB962C8B-B14F-4D97-AF65-F5344CB8AC3E}">
        <p14:creationId xmlns:p14="http://schemas.microsoft.com/office/powerpoint/2010/main" val="5855799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FERENCIAS DEL SECTOR">
            <a:extLst xmlns:a="http://schemas.openxmlformats.org/drawingml/2006/main">
              <a:ext uri="{FF2B5EF4-FFF2-40B4-BE49-F238E27FC236}">
                <a16:creationId xmlns:a16="http://schemas.microsoft.com/office/drawing/2014/main" id="{E8BB50BB-9035-48C8-BC54-81C78A00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REFERENCIAS DEL SECTOR</a:t>
            </a:r>
          </a:p>
        </p:txBody>
      </p:sp>
      <p:sp>
        <p:nvSpPr>
          <p:cNvPr id="2" name="Qué aportan las empresas de referencia">
            <a:extLst xmlns:a="http://schemas.openxmlformats.org/drawingml/2006/main">
              <a:ext uri="{FF2B5EF4-FFF2-40B4-BE49-F238E27FC236}">
                <a16:creationId xmlns:a16="http://schemas.microsoft.com/office/drawing/2014/main" id="{93F2E3E5-2DB0-4BC5-85CE-D0D60E83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Qué aportan las empresas de referencia</a:t>
            </a:r>
          </a:p>
        </p:txBody>
      </p:sp>
      <p:sp>
        <p:nvSpPr>
          <p:cNvPr id="3" name="Fuentes oficiales consultadas el 31/08/2026 · Referencias, no equ">
            <a:extLst xmlns:a="http://schemas.openxmlformats.org/drawingml/2006/main">
              <a:ext uri="{FF2B5EF4-FFF2-40B4-BE49-F238E27FC236}">
                <a16:creationId xmlns:a16="http://schemas.microsoft.com/office/drawing/2014/main" id="{756F03F9-DFE5-4B62-BFBC-94AFD0D1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Fuentes oficiales consultadas el 31/08/2026 · Referencias, no equivalencias de producto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CC783D9B-E7FE-4E5F-B2B7-1A541EF0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Referencia">
            <a:extLst xmlns:a="http://schemas.openxmlformats.org/drawingml/2006/main">
              <a:ext uri="{FF2B5EF4-FFF2-40B4-BE49-F238E27FC236}">
                <a16:creationId xmlns:a16="http://schemas.microsoft.com/office/drawing/2014/main" id="{98F97705-5CFA-49BA-868F-C8EF0494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Referencia</a:t>
            </a:r>
          </a:p>
        </p:txBody>
      </p:sp>
      <p:sp>
        <p:nvSpPr>
          <p:cNvPr id="6" name="Enfoque publicado">
            <a:extLst xmlns:a="http://schemas.openxmlformats.org/drawingml/2006/main">
              <a:ext uri="{FF2B5EF4-FFF2-40B4-BE49-F238E27FC236}">
                <a16:creationId xmlns:a16="http://schemas.microsoft.com/office/drawing/2014/main" id="{EA629B35-98AE-4B49-AAE8-05E3AD69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5716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Enfoque publicado</a:t>
            </a:r>
          </a:p>
        </p:txBody>
      </p:sp>
      <p:sp>
        <p:nvSpPr>
          <p:cNvPr id="7" name="Idea para MINTRONICK">
            <a:extLst xmlns:a="http://schemas.openxmlformats.org/drawingml/2006/main">
              <a:ext uri="{FF2B5EF4-FFF2-40B4-BE49-F238E27FC236}">
                <a16:creationId xmlns:a16="http://schemas.microsoft.com/office/drawing/2014/main" id="{8D519F00-D422-480C-90BF-156407D2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571625"/>
            <a:ext cx="3705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Idea para MINTRONICK</a:t>
            </a:r>
          </a:p>
        </p:txBody>
      </p:sp>
      <p:sp>
        <p:nvSpPr>
          <p:cNvPr id="8" name="Komatsu / My Komatsu">
            <a:extLst xmlns:a="http://schemas.openxmlformats.org/drawingml/2006/main">
              <a:ext uri="{FF2B5EF4-FFF2-40B4-BE49-F238E27FC236}">
                <a16:creationId xmlns:a16="http://schemas.microsoft.com/office/drawing/2014/main" id="{EB8CED51-F1B4-426F-9E91-91E767A9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30575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Komatsu / My Komatsu</a:t>
            </a:r>
          </a:p>
        </p:txBody>
      </p:sp>
      <p:sp>
        <p:nvSpPr>
          <p:cNvPr id="9" name="Flota, mapas, uso y combustible">
            <a:extLst xmlns:a="http://schemas.openxmlformats.org/drawingml/2006/main">
              <a:ext uri="{FF2B5EF4-FFF2-40B4-BE49-F238E27FC236}">
                <a16:creationId xmlns:a16="http://schemas.microsoft.com/office/drawing/2014/main" id="{4B38A696-5917-4FA8-9AF7-2EB42084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095500"/>
            <a:ext cx="38671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Flota, mapas, uso y combustible</a:t>
            </a:r>
          </a:p>
        </p:txBody>
      </p:sp>
      <p:sp>
        <p:nvSpPr>
          <p:cNvPr id="10" name="Unir vista general y detalle">
            <a:extLst xmlns:a="http://schemas.openxmlformats.org/drawingml/2006/main">
              <a:ext uri="{FF2B5EF4-FFF2-40B4-BE49-F238E27FC236}">
                <a16:creationId xmlns:a16="http://schemas.microsoft.com/office/drawing/2014/main" id="{E832C6CC-8B51-4B40-82B4-78F01F5E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095500"/>
            <a:ext cx="3667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Unir vista general y detalle</a:t>
            </a:r>
          </a:p>
        </p:txBody>
      </p:sp>
      <p:sp>
        <p:nvSpPr>
          <p:cNvPr id="11" name="Caterpillar / VisionLink">
            <a:extLst xmlns:a="http://schemas.openxmlformats.org/drawingml/2006/main">
              <a:ext uri="{FF2B5EF4-FFF2-40B4-BE49-F238E27FC236}">
                <a16:creationId xmlns:a16="http://schemas.microsoft.com/office/drawing/2014/main" id="{C1D2D783-EC98-499C-A7C5-4098E825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67025"/>
            <a:ext cx="30575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Caterpillar / VisionLink</a:t>
            </a:r>
          </a:p>
        </p:txBody>
      </p:sp>
      <p:sp>
        <p:nvSpPr>
          <p:cNvPr id="12" name="Activos, salud y tareas de servicio">
            <a:extLst xmlns:a="http://schemas.openxmlformats.org/drawingml/2006/main">
              <a:ext uri="{FF2B5EF4-FFF2-40B4-BE49-F238E27FC236}">
                <a16:creationId xmlns:a16="http://schemas.microsoft.com/office/drawing/2014/main" id="{00B6130E-4F2B-47BC-895B-43E3A281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67025"/>
            <a:ext cx="38671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Activos, salud y tareas de servicio</a:t>
            </a:r>
          </a:p>
        </p:txBody>
      </p:sp>
      <p:sp>
        <p:nvSpPr>
          <p:cNvPr id="13" name="Pasar del dato a la acción">
            <a:extLst xmlns:a="http://schemas.openxmlformats.org/drawingml/2006/main">
              <a:ext uri="{FF2B5EF4-FFF2-40B4-BE49-F238E27FC236}">
                <a16:creationId xmlns:a16="http://schemas.microsoft.com/office/drawing/2014/main" id="{6C8FE935-D5B0-4227-AE3B-9345113B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867025"/>
            <a:ext cx="3667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Pasar del dato a la acción</a:t>
            </a:r>
          </a:p>
        </p:txBody>
      </p:sp>
      <p:sp>
        <p:nvSpPr>
          <p:cNvPr id="14" name="MS4M / H4M y R4M">
            <a:extLst xmlns:a="http://schemas.openxmlformats.org/drawingml/2006/main">
              <a:ext uri="{FF2B5EF4-FFF2-40B4-BE49-F238E27FC236}">
                <a16:creationId xmlns:a16="http://schemas.microsoft.com/office/drawing/2014/main" id="{493716BC-23AB-4DC7-B4D5-4C7127C7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30575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MS4M / H4M y R4M</a:t>
            </a:r>
          </a:p>
        </p:txBody>
      </p:sp>
      <p:sp>
        <p:nvSpPr>
          <p:cNvPr id="15" name="Salud de equipos y reportes">
            <a:extLst xmlns:a="http://schemas.openxmlformats.org/drawingml/2006/main">
              <a:ext uri="{FF2B5EF4-FFF2-40B4-BE49-F238E27FC236}">
                <a16:creationId xmlns:a16="http://schemas.microsoft.com/office/drawing/2014/main" id="{C12E210B-5BAE-4A95-88A1-703E036C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638550"/>
            <a:ext cx="38671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Salud de equipos y reportes</a:t>
            </a:r>
          </a:p>
        </p:txBody>
      </p:sp>
      <p:sp>
        <p:nvSpPr>
          <p:cNvPr id="16" name="Separar diagnóstico y gestión">
            <a:extLst xmlns:a="http://schemas.openxmlformats.org/drawingml/2006/main">
              <a:ext uri="{FF2B5EF4-FFF2-40B4-BE49-F238E27FC236}">
                <a16:creationId xmlns:a16="http://schemas.microsoft.com/office/drawing/2014/main" id="{A7766E50-77CF-46A7-BB1C-6898E817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638550"/>
            <a:ext cx="3667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Separar diagnóstico y gestión</a:t>
            </a:r>
          </a:p>
        </p:txBody>
      </p:sp>
      <p:sp>
        <p:nvSpPr>
          <p:cNvPr id="17" name="Hexagon / OP Pro">
            <a:extLst xmlns:a="http://schemas.openxmlformats.org/drawingml/2006/main">
              <a:ext uri="{FF2B5EF4-FFF2-40B4-BE49-F238E27FC236}">
                <a16:creationId xmlns:a16="http://schemas.microsoft.com/office/drawing/2014/main" id="{2EB9760D-7CA8-43E1-944E-DF451BD6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0075"/>
            <a:ext cx="30575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Hexagon / OP Pro</a:t>
            </a:r>
          </a:p>
        </p:txBody>
      </p:sp>
      <p:sp>
        <p:nvSpPr>
          <p:cNvPr id="18" name="Actividad, producción y utilización">
            <a:extLst xmlns:a="http://schemas.openxmlformats.org/drawingml/2006/main">
              <a:ext uri="{FF2B5EF4-FFF2-40B4-BE49-F238E27FC236}">
                <a16:creationId xmlns:a16="http://schemas.microsoft.com/office/drawing/2014/main" id="{77EC28E3-B069-436C-B4A8-8827BD3B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410075"/>
            <a:ext cx="38671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Actividad, producción y utilización</a:t>
            </a:r>
          </a:p>
        </p:txBody>
      </p:sp>
      <p:sp>
        <p:nvSpPr>
          <p:cNvPr id="19" name="Conectar tiempos y operación">
            <a:extLst xmlns:a="http://schemas.openxmlformats.org/drawingml/2006/main">
              <a:ext uri="{FF2B5EF4-FFF2-40B4-BE49-F238E27FC236}">
                <a16:creationId xmlns:a16="http://schemas.microsoft.com/office/drawing/2014/main" id="{713317B7-89BA-4B23-892F-03AF9DA6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410075"/>
            <a:ext cx="3667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Conectar tiempos y operación</a:t>
            </a:r>
          </a:p>
        </p:txBody>
      </p:sp>
      <p:sp>
        <p:nvSpPr>
          <p:cNvPr id="20" name="Ferreyros">
            <a:extLst xmlns:a="http://schemas.openxmlformats.org/drawingml/2006/main">
              <a:ext uri="{FF2B5EF4-FFF2-40B4-BE49-F238E27FC236}">
                <a16:creationId xmlns:a16="http://schemas.microsoft.com/office/drawing/2014/main" id="{E9C969A4-CE4F-406D-89E9-D3876E69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30575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Ferreyros</a:t>
            </a:r>
          </a:p>
        </p:txBody>
      </p:sp>
      <p:sp>
        <p:nvSpPr>
          <p:cNvPr id="21" name="VisionLink y VisionLink Productivity">
            <a:extLst xmlns:a="http://schemas.openxmlformats.org/drawingml/2006/main">
              <a:ext uri="{FF2B5EF4-FFF2-40B4-BE49-F238E27FC236}">
                <a16:creationId xmlns:a16="http://schemas.microsoft.com/office/drawing/2014/main" id="{13554E63-8E82-429F-AC54-C94952F5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181600"/>
            <a:ext cx="38671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VisionLink y VisionLink Productivity</a:t>
            </a:r>
          </a:p>
        </p:txBody>
      </p:sp>
      <p:sp>
        <p:nvSpPr>
          <p:cNvPr id="22" name="Reporte útil para el cliente">
            <a:extLst xmlns:a="http://schemas.openxmlformats.org/drawingml/2006/main">
              <a:ext uri="{FF2B5EF4-FFF2-40B4-BE49-F238E27FC236}">
                <a16:creationId xmlns:a16="http://schemas.microsoft.com/office/drawing/2014/main" id="{B911F466-5F12-4362-B299-B0C14667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181600"/>
            <a:ext cx="3667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Reporte útil para el cliente</a:t>
            </a:r>
          </a:p>
        </p:txBody>
      </p:sp>
    </p:spTree>
    <p:extLst>
      <p:ext uri="{BB962C8B-B14F-4D97-AF65-F5344CB8AC3E}">
        <p14:creationId xmlns:p14="http://schemas.microsoft.com/office/powerpoint/2010/main" val="21083593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FERENCIA VISUAL">
            <a:extLst xmlns:a="http://schemas.openxmlformats.org/drawingml/2006/main">
              <a:ext uri="{FF2B5EF4-FFF2-40B4-BE49-F238E27FC236}">
                <a16:creationId xmlns:a16="http://schemas.microsoft.com/office/drawing/2014/main" id="{6EDEA211-4E50-4E5B-8C90-6136718C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REFERENCIA VISUAL</a:t>
            </a:r>
          </a:p>
        </p:txBody>
      </p:sp>
      <p:sp>
        <p:nvSpPr>
          <p:cNvPr id="2" name="Komatsu: mirar el uso en el tiempo">
            <a:extLst xmlns:a="http://schemas.openxmlformats.org/drawingml/2006/main">
              <a:ext uri="{FF2B5EF4-FFF2-40B4-BE49-F238E27FC236}">
                <a16:creationId xmlns:a16="http://schemas.microsoft.com/office/drawing/2014/main" id="{380F5305-3A48-4481-A19C-5BFA3B26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Komatsu: mirar el uso en el tiempo</a:t>
            </a:r>
          </a:p>
        </p:txBody>
      </p:sp>
      <p:sp>
        <p:nvSpPr>
          <p:cNvPr id="3" name="Foto de tu documento, captura 15 · My Komatsu se consulta como re">
            <a:extLst xmlns:a="http://schemas.openxmlformats.org/drawingml/2006/main">
              <a:ext uri="{FF2B5EF4-FFF2-40B4-BE49-F238E27FC236}">
                <a16:creationId xmlns:a16="http://schemas.microsoft.com/office/drawing/2014/main" id="{E9A84050-478C-4BC3-AB81-FD36A4B1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Foto de tu documento, captura 15 · My Komatsu se consulta como referencia adicional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CD69FA30-DCDC-49E2-8AFE-0F584CBE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b2024d0c641b7"/>
          <a:stretch xmlns:a="http://schemas.openxmlformats.org/drawingml/2006/main"/>
        </p:blipFill>
        <p:spPr>
          <a:xfrm xmlns:a="http://schemas.openxmlformats.org/drawingml/2006/main">
            <a:off x="457200" y="1731824"/>
            <a:ext cx="7524750" cy="4242078"/>
          </a:xfrm>
          <a:prstGeom xmlns:a="http://schemas.openxmlformats.org/drawingml/2006/main" prst="rect">
            <a:avLst/>
          </a:prstGeom>
        </p:spPr>
      </p:pic>
      <p:sp>
        <p:nvSpPr>
          <p:cNvPr id="6" name="En tu fotografía">
            <a:extLst xmlns:a="http://schemas.openxmlformats.org/drawingml/2006/main">
              <a:ext uri="{FF2B5EF4-FFF2-40B4-BE49-F238E27FC236}">
                <a16:creationId xmlns:a16="http://schemas.microsoft.com/office/drawing/2014/main" id="{3674ACD5-18B2-4951-918C-F83714F4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33550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En tu fotografía</a:t>
            </a:r>
          </a:p>
        </p:txBody>
      </p:sp>
      <p:sp>
        <p:nvSpPr>
          <p:cNvPr id="7" name="Se observan utilización, disponibilidad y barras de estados.">
            <a:extLst xmlns:a="http://schemas.openxmlformats.org/drawingml/2006/main">
              <a:ext uri="{FF2B5EF4-FFF2-40B4-BE49-F238E27FC236}">
                <a16:creationId xmlns:a16="http://schemas.microsoft.com/office/drawing/2014/main" id="{592B943B-2995-4EFD-9AA2-772E1AED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6217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Se observan utilización, disponibilidad y barras de estados.</a:t>
            </a:r>
          </a:p>
        </p:txBody>
      </p:sp>
      <p:sp>
        <p:nvSpPr>
          <p:cNvPr id="8" name="Tomar la idea">
            <a:extLst xmlns:a="http://schemas.openxmlformats.org/drawingml/2006/main">
              <a:ext uri="{FF2B5EF4-FFF2-40B4-BE49-F238E27FC236}">
                <a16:creationId xmlns:a16="http://schemas.microsoft.com/office/drawing/2014/main" id="{CE326112-D0A6-4640-99A7-F5C602EA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71825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Tomar la idea</a:t>
            </a:r>
          </a:p>
        </p:txBody>
      </p:sp>
      <p:sp>
        <p:nvSpPr>
          <p:cNvPr id="9" name="Una línea de tiempo permite ubicar interrupciones del turno.">
            <a:extLst xmlns:a="http://schemas.openxmlformats.org/drawingml/2006/main">
              <a:ext uri="{FF2B5EF4-FFF2-40B4-BE49-F238E27FC236}">
                <a16:creationId xmlns:a16="http://schemas.microsoft.com/office/drawing/2014/main" id="{463F6B00-43E4-4CB4-A7F9-F93A68B9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Una línea de tiempo permite ubicar interrupciones del turno.</a:t>
            </a:r>
          </a:p>
        </p:txBody>
      </p:sp>
      <p:sp>
        <p:nvSpPr>
          <p:cNvPr id="10" name="Cuidar el cálculo">
            <a:extLst xmlns:a="http://schemas.openxmlformats.org/drawingml/2006/main">
              <a:ext uri="{FF2B5EF4-FFF2-40B4-BE49-F238E27FC236}">
                <a16:creationId xmlns:a16="http://schemas.microsoft.com/office/drawing/2014/main" id="{522AE058-0DB8-4CC8-986C-523C2B4C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10100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Cuidar el cálculo</a:t>
            </a:r>
          </a:p>
        </p:txBody>
      </p:sp>
      <p:sp>
        <p:nvSpPr>
          <p:cNvPr id="11" name="Disponibilidad requiere tiempos y causas; no basta con estar cone">
            <a:extLst xmlns:a="http://schemas.openxmlformats.org/drawingml/2006/main">
              <a:ext uri="{FF2B5EF4-FFF2-40B4-BE49-F238E27FC236}">
                <a16:creationId xmlns:a16="http://schemas.microsoft.com/office/drawing/2014/main" id="{AA26E567-B6CB-4831-916A-6BEC696E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3872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Disponibilidad requiere tiempos y causas; no basta con estar conectado.</a:t>
            </a:r>
          </a:p>
        </p:txBody>
      </p:sp>
    </p:spTree>
    <p:extLst>
      <p:ext uri="{BB962C8B-B14F-4D97-AF65-F5344CB8AC3E}">
        <p14:creationId xmlns:p14="http://schemas.microsoft.com/office/powerpoint/2010/main" val="16589200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FERENCIA VISUAL">
            <a:extLst xmlns:a="http://schemas.openxmlformats.org/drawingml/2006/main">
              <a:ext uri="{FF2B5EF4-FFF2-40B4-BE49-F238E27FC236}">
                <a16:creationId xmlns:a16="http://schemas.microsoft.com/office/drawing/2014/main" id="{1D091D45-0892-4388-8FA4-D6C3F83A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REFERENCIA VISUAL</a:t>
            </a:r>
          </a:p>
        </p:txBody>
      </p:sp>
      <p:sp>
        <p:nvSpPr>
          <p:cNvPr id="2" name="VisionLink conecta información y tareas">
            <a:extLst xmlns:a="http://schemas.openxmlformats.org/drawingml/2006/main">
              <a:ext uri="{FF2B5EF4-FFF2-40B4-BE49-F238E27FC236}">
                <a16:creationId xmlns:a16="http://schemas.microsoft.com/office/drawing/2014/main" id="{8A3FFA9A-93BD-412A-B3CE-B61B6E51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VisionLink conecta información y tareas</a:t>
            </a:r>
          </a:p>
        </p:txBody>
      </p:sp>
      <p:sp>
        <p:nvSpPr>
          <p:cNvPr id="3" name="Caterpillar · Imagen publicada de VisionLink · Interfaz y disponi">
            <a:extLst xmlns:a="http://schemas.openxmlformats.org/drawingml/2006/main">
              <a:ext uri="{FF2B5EF4-FFF2-40B4-BE49-F238E27FC236}">
                <a16:creationId xmlns:a16="http://schemas.microsoft.com/office/drawing/2014/main" id="{E723BBAD-AFB5-4C66-948D-5A5BFC60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Caterpillar · Imagen publicada de VisionLink · Interfaz y disponibilidad pueden variar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3609B9A4-69E3-4410-8611-4BBE7409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aca30bf554b3b"/>
          <a:stretch xmlns:a="http://schemas.openxmlformats.org/drawingml/2006/main"/>
        </p:blipFill>
        <p:spPr>
          <a:xfrm xmlns:a="http://schemas.openxmlformats.org/drawingml/2006/main">
            <a:off x="1266825" y="1638300"/>
            <a:ext cx="5905500" cy="4429125"/>
          </a:xfrm>
          <a:prstGeom xmlns:a="http://schemas.openxmlformats.org/drawingml/2006/main" prst="rect">
            <a:avLst/>
          </a:prstGeom>
        </p:spPr>
      </p:pic>
      <p:sp>
        <p:nvSpPr>
          <p:cNvPr id="6" name="Referencia oficial">
            <a:extLst xmlns:a="http://schemas.openxmlformats.org/drawingml/2006/main">
              <a:ext uri="{FF2B5EF4-FFF2-40B4-BE49-F238E27FC236}">
                <a16:creationId xmlns:a16="http://schemas.microsoft.com/office/drawing/2014/main" id="{B521CE41-C7ED-4738-9501-6E3F528B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33550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Referencia oficial</a:t>
            </a:r>
          </a:p>
        </p:txBody>
      </p:sp>
      <p:sp>
        <p:nvSpPr>
          <p:cNvPr id="7" name="Inicio con activos, tareas, salud y mantenimiento.">
            <a:extLst xmlns:a="http://schemas.openxmlformats.org/drawingml/2006/main">
              <a:ext uri="{FF2B5EF4-FFF2-40B4-BE49-F238E27FC236}">
                <a16:creationId xmlns:a16="http://schemas.microsoft.com/office/drawing/2014/main" id="{57E9067A-838A-49A0-A323-E2D7581C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6217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Inicio con activos, tareas, salud y mantenimiento.</a:t>
            </a:r>
          </a:p>
        </p:txBody>
      </p:sp>
      <p:sp>
        <p:nvSpPr>
          <p:cNvPr id="8" name="Tomar la idea">
            <a:extLst xmlns:a="http://schemas.openxmlformats.org/drawingml/2006/main">
              <a:ext uri="{FF2B5EF4-FFF2-40B4-BE49-F238E27FC236}">
                <a16:creationId xmlns:a16="http://schemas.microsoft.com/office/drawing/2014/main" id="{6B7473BD-1802-4837-AD84-0B1F1EB5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71825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Tomar la idea</a:t>
            </a:r>
          </a:p>
        </p:txBody>
      </p:sp>
      <p:sp>
        <p:nvSpPr>
          <p:cNvPr id="9" name="Mostrar pendientes con responsable y fecha.">
            <a:extLst xmlns:a="http://schemas.openxmlformats.org/drawingml/2006/main">
              <a:ext uri="{FF2B5EF4-FFF2-40B4-BE49-F238E27FC236}">
                <a16:creationId xmlns:a16="http://schemas.microsoft.com/office/drawing/2014/main" id="{0810ED82-0081-40DF-A9E2-BC020DA7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Mostrar pendientes con responsable y fecha.</a:t>
            </a:r>
          </a:p>
        </p:txBody>
      </p:sp>
      <p:sp>
        <p:nvSpPr>
          <p:cNvPr id="10" name="Aplicar aquí">
            <a:extLst xmlns:a="http://schemas.openxmlformats.org/drawingml/2006/main">
              <a:ext uri="{FF2B5EF4-FFF2-40B4-BE49-F238E27FC236}">
                <a16:creationId xmlns:a16="http://schemas.microsoft.com/office/drawing/2014/main" id="{2DA8220C-AFF5-49C9-B1DA-3F336CC8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10100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Aplicar aquí</a:t>
            </a:r>
          </a:p>
        </p:txBody>
      </p:sp>
      <p:sp>
        <p:nvSpPr>
          <p:cNvPr id="11" name="Desde una alerta, abrir evidencia y registrar atención.">
            <a:extLst xmlns:a="http://schemas.openxmlformats.org/drawingml/2006/main">
              <a:ext uri="{FF2B5EF4-FFF2-40B4-BE49-F238E27FC236}">
                <a16:creationId xmlns:a16="http://schemas.microsoft.com/office/drawing/2014/main" id="{B332B5FC-540C-4C37-B8EF-5AB57088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3872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Desde una alerta, abrir evidencia y registrar atención.</a:t>
            </a:r>
          </a:p>
        </p:txBody>
      </p:sp>
    </p:spTree>
    <p:extLst>
      <p:ext uri="{BB962C8B-B14F-4D97-AF65-F5344CB8AC3E}">
        <p14:creationId xmlns:p14="http://schemas.microsoft.com/office/powerpoint/2010/main" val="17745840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FERENCIA VISUAL">
            <a:extLst xmlns:a="http://schemas.openxmlformats.org/drawingml/2006/main">
              <a:ext uri="{FF2B5EF4-FFF2-40B4-BE49-F238E27FC236}">
                <a16:creationId xmlns:a16="http://schemas.microsoft.com/office/drawing/2014/main" id="{AAE7C787-BF70-4854-B4BC-DCB9E438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REFERENCIA VISUAL</a:t>
            </a:r>
          </a:p>
        </p:txBody>
      </p:sp>
      <p:sp>
        <p:nvSpPr>
          <p:cNvPr id="2" name="MS4M: salud por equipo y por sistema">
            <a:extLst xmlns:a="http://schemas.openxmlformats.org/drawingml/2006/main">
              <a:ext uri="{FF2B5EF4-FFF2-40B4-BE49-F238E27FC236}">
                <a16:creationId xmlns:a16="http://schemas.microsoft.com/office/drawing/2014/main" id="{C560E2DE-7C03-48FF-92A3-BE0FDD56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MS4M: salud por equipo y por sistema</a:t>
            </a:r>
          </a:p>
        </p:txBody>
      </p:sp>
      <p:sp>
        <p:nvSpPr>
          <p:cNvPr id="3" name="Foto de tu documento, captura 12 · Referencia pública complementa">
            <a:extLst xmlns:a="http://schemas.openxmlformats.org/drawingml/2006/main">
              <a:ext uri="{FF2B5EF4-FFF2-40B4-BE49-F238E27FC236}">
                <a16:creationId xmlns:a16="http://schemas.microsoft.com/office/drawing/2014/main" id="{43C98119-6A63-435A-A8C5-19C79533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Foto de tu documento, captura 12 · Referencia pública complementaria: MS4M H4M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0FDE0A44-D404-4030-8E40-06A0C262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3592b8e4594024"/>
          <a:stretch xmlns:a="http://schemas.openxmlformats.org/drawingml/2006/main"/>
        </p:blipFill>
        <p:spPr>
          <a:xfrm xmlns:a="http://schemas.openxmlformats.org/drawingml/2006/main">
            <a:off x="457200" y="1731824"/>
            <a:ext cx="7524750" cy="4242078"/>
          </a:xfrm>
          <a:prstGeom xmlns:a="http://schemas.openxmlformats.org/drawingml/2006/main" prst="rect">
            <a:avLst/>
          </a:prstGeom>
        </p:spPr>
      </p:pic>
      <p:sp>
        <p:nvSpPr>
          <p:cNvPr id="6" name="En tu fotografía">
            <a:extLst xmlns:a="http://schemas.openxmlformats.org/drawingml/2006/main">
              <a:ext uri="{FF2B5EF4-FFF2-40B4-BE49-F238E27FC236}">
                <a16:creationId xmlns:a16="http://schemas.microsoft.com/office/drawing/2014/main" id="{736BBA9B-3D51-4C29-8A8C-42BF065E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33550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En tu fotografía</a:t>
            </a:r>
          </a:p>
        </p:txBody>
      </p:sp>
      <p:sp>
        <p:nvSpPr>
          <p:cNvPr id="7" name="Health 4Miners muestra flota y detalle lateral por sistema.">
            <a:extLst xmlns:a="http://schemas.openxmlformats.org/drawingml/2006/main">
              <a:ext uri="{FF2B5EF4-FFF2-40B4-BE49-F238E27FC236}">
                <a16:creationId xmlns:a16="http://schemas.microsoft.com/office/drawing/2014/main" id="{7A444DE1-5DC7-415C-BA12-F8690339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6217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Health 4Miners muestra flota y detalle lateral por sistema.</a:t>
            </a:r>
          </a:p>
        </p:txBody>
      </p:sp>
      <p:sp>
        <p:nvSpPr>
          <p:cNvPr id="8" name="Tomar la idea">
            <a:extLst xmlns:a="http://schemas.openxmlformats.org/drawingml/2006/main">
              <a:ext uri="{FF2B5EF4-FFF2-40B4-BE49-F238E27FC236}">
                <a16:creationId xmlns:a16="http://schemas.microsoft.com/office/drawing/2014/main" id="{A2011A79-693D-48E1-A23A-1F8A8106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71825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Tomar la idea</a:t>
            </a:r>
          </a:p>
        </p:txBody>
      </p:sp>
      <p:sp>
        <p:nvSpPr>
          <p:cNvPr id="9" name="Abrir motor, frenos, transmisión o hidráulica sin perder el equip">
            <a:extLst xmlns:a="http://schemas.openxmlformats.org/drawingml/2006/main">
              <a:ext uri="{FF2B5EF4-FFF2-40B4-BE49-F238E27FC236}">
                <a16:creationId xmlns:a16="http://schemas.microsoft.com/office/drawing/2014/main" id="{D8795312-BE29-4313-A6AE-8634086B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Abrir motor, frenos, transmisión o hidráulica sin perder el equipo.</a:t>
            </a:r>
          </a:p>
        </p:txBody>
      </p:sp>
      <p:sp>
        <p:nvSpPr>
          <p:cNvPr id="10" name="Mejorar la lectura">
            <a:extLst xmlns:a="http://schemas.openxmlformats.org/drawingml/2006/main">
              <a:ext uri="{FF2B5EF4-FFF2-40B4-BE49-F238E27FC236}">
                <a16:creationId xmlns:a16="http://schemas.microsoft.com/office/drawing/2014/main" id="{154F493B-AF20-42F5-B016-D80EA580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10100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Mejorar la lectura</a:t>
            </a:r>
          </a:p>
        </p:txBody>
      </p:sp>
      <p:sp>
        <p:nvSpPr>
          <p:cNvPr id="11" name="Separar salud, operación y conexión; no colorear toda la tarjeta.">
            <a:extLst xmlns:a="http://schemas.openxmlformats.org/drawingml/2006/main">
              <a:ext uri="{FF2B5EF4-FFF2-40B4-BE49-F238E27FC236}">
                <a16:creationId xmlns:a16="http://schemas.microsoft.com/office/drawing/2014/main" id="{3A512F4F-3AFB-4622-83E2-34AD4E27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3872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Separar salud, operación y conexión; no colorear toda la tarjeta.</a:t>
            </a:r>
          </a:p>
        </p:txBody>
      </p:sp>
    </p:spTree>
    <p:extLst>
      <p:ext uri="{BB962C8B-B14F-4D97-AF65-F5344CB8AC3E}">
        <p14:creationId xmlns:p14="http://schemas.microsoft.com/office/powerpoint/2010/main" val="9302844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FERENCIAS DEL SECTOR">
            <a:extLst xmlns:a="http://schemas.openxmlformats.org/drawingml/2006/main">
              <a:ext uri="{FF2B5EF4-FFF2-40B4-BE49-F238E27FC236}">
                <a16:creationId xmlns:a16="http://schemas.microsoft.com/office/drawing/2014/main" id="{EDCE5309-15F3-4875-A6E3-CA72BB88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REFERENCIAS DEL SECTOR</a:t>
            </a:r>
          </a:p>
        </p:txBody>
      </p:sp>
      <p:sp>
        <p:nvSpPr>
          <p:cNvPr id="2" name="La producción necesita más que GPS">
            <a:extLst xmlns:a="http://schemas.openxmlformats.org/drawingml/2006/main">
              <a:ext uri="{FF2B5EF4-FFF2-40B4-BE49-F238E27FC236}">
                <a16:creationId xmlns:a16="http://schemas.microsoft.com/office/drawing/2014/main" id="{58A7BBAA-A41F-4925-AF7D-A1F9EB67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La producción necesita más que GPS</a:t>
            </a:r>
          </a:p>
        </p:txBody>
      </p:sp>
      <p:sp>
        <p:nvSpPr>
          <p:cNvPr id="3" name="Hexagon OP Pro y Ferreyros / VisionLink Productivity · Ver fuente">
            <a:extLst xmlns:a="http://schemas.openxmlformats.org/drawingml/2006/main">
              <a:ext uri="{FF2B5EF4-FFF2-40B4-BE49-F238E27FC236}">
                <a16:creationId xmlns:a16="http://schemas.microsoft.com/office/drawing/2014/main" id="{FEC258EF-47BA-41B6-B3FE-9B899FDD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Hexagon OP Pro y Ferreyros / VisionLink Productivity · Ver fuentes en notas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615A7B29-FB27-47C9-A052-E1D44EBC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Hexagon OP Pro">
            <a:extLst xmlns:a="http://schemas.openxmlformats.org/drawingml/2006/main">
              <a:ext uri="{FF2B5EF4-FFF2-40B4-BE49-F238E27FC236}">
                <a16:creationId xmlns:a16="http://schemas.microsoft.com/office/drawing/2014/main" id="{814B2CC6-A586-4E1A-960C-557758F6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Hexagon OP Pro</a:t>
            </a:r>
          </a:p>
        </p:txBody>
      </p:sp>
      <p:sp>
        <p:nvSpPr>
          <p:cNvPr id="6" name="Su enfoque incluye posición, actividad, producción y utilización.">
            <a:extLst xmlns:a="http://schemas.openxmlformats.org/drawingml/2006/main">
              <a:ext uri="{FF2B5EF4-FFF2-40B4-BE49-F238E27FC236}">
                <a16:creationId xmlns:a16="http://schemas.microsoft.com/office/drawing/2014/main" id="{5676ABC1-58C7-4880-A4DB-4878A7FF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Su enfoque incluye posición, actividad, producción y utilización.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Adaptar: mapa relacionado con tiempos operativos.</a:t>
            </a:r>
          </a:p>
        </p:txBody>
      </p:sp>
      <p:sp>
        <p:nvSpPr>
          <p:cNvPr id="7" name="Ferreyros">
            <a:extLst xmlns:a="http://schemas.openxmlformats.org/drawingml/2006/main">
              <a:ext uri="{FF2B5EF4-FFF2-40B4-BE49-F238E27FC236}">
                <a16:creationId xmlns:a16="http://schemas.microsoft.com/office/drawing/2014/main" id="{332BF531-944B-4A73-AF29-B30B9B90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Ferreyros</a:t>
            </a:r>
          </a:p>
        </p:txBody>
      </p:sp>
      <p:sp>
        <p:nvSpPr>
          <p:cNvPr id="8" name="Su material de VisionLink Productivity explica ciclos, toneladas ">
            <a:extLst xmlns:a="http://schemas.openxmlformats.org/drawingml/2006/main">
              <a:ext uri="{FF2B5EF4-FFF2-40B4-BE49-F238E27FC236}">
                <a16:creationId xmlns:a16="http://schemas.microsoft.com/office/drawing/2014/main" id="{DB8CE64D-2B5F-4F99-A4A2-0CED572F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Su material de VisionLink Productivity explica ciclos, toneladas y consumo.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Adaptar: reportes con contexto de producción.</a:t>
            </a:r>
          </a:p>
        </p:txBody>
      </p:sp>
      <p:sp>
        <p:nvSpPr>
          <p:cNvPr id="9" name="Condición de entrada">
            <a:extLst xmlns:a="http://schemas.openxmlformats.org/drawingml/2006/main">
              <a:ext uri="{FF2B5EF4-FFF2-40B4-BE49-F238E27FC236}">
                <a16:creationId xmlns:a16="http://schemas.microsoft.com/office/drawing/2014/main" id="{80AFB59E-4734-4BEF-9818-6F6190F6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Condición de entrada</a:t>
            </a:r>
          </a:p>
        </p:txBody>
      </p:sp>
      <p:sp>
        <p:nvSpPr>
          <p:cNvPr id="10" name="Validar carga útil, ciclos, zonas y turnos.&#10;&#10;Sin esas fuentes, no">
            <a:extLst xmlns:a="http://schemas.openxmlformats.org/drawingml/2006/main">
              <a:ext uri="{FF2B5EF4-FFF2-40B4-BE49-F238E27FC236}">
                <a16:creationId xmlns:a16="http://schemas.microsoft.com/office/drawing/2014/main" id="{BEF73030-D358-4722-A66E-7A332E42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Validar carga útil, ciclos, zonas y turnos.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Sin esas fuentes, no mostrar toneladas, costo por tonelada ni producción estimada como hechos.</a:t>
            </a:r>
          </a:p>
        </p:txBody>
      </p:sp>
    </p:spTree>
    <p:extLst>
      <p:ext uri="{BB962C8B-B14F-4D97-AF65-F5344CB8AC3E}">
        <p14:creationId xmlns:p14="http://schemas.microsoft.com/office/powerpoint/2010/main" val="9424711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ROPUESTA">
            <a:extLst xmlns:a="http://schemas.openxmlformats.org/drawingml/2006/main">
              <a:ext uri="{FF2B5EF4-FFF2-40B4-BE49-F238E27FC236}">
                <a16:creationId xmlns:a16="http://schemas.microsoft.com/office/drawing/2014/main" id="{05E2431D-1E8D-4DDD-B466-E25010D7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PROPUESTA</a:t>
            </a:r>
          </a:p>
        </p:txBody>
      </p:sp>
      <p:sp>
        <p:nvSpPr>
          <p:cNvPr id="2" name="Un menú organizado por trabajo">
            <a:extLst xmlns:a="http://schemas.openxmlformats.org/drawingml/2006/main">
              <a:ext uri="{FF2B5EF4-FFF2-40B4-BE49-F238E27FC236}">
                <a16:creationId xmlns:a16="http://schemas.microsoft.com/office/drawing/2014/main" id="{B6D3C2E8-C101-4ECB-B282-01F6A252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Un menú organizado por trabajo</a:t>
            </a:r>
          </a:p>
        </p:txBody>
      </p:sp>
      <p:sp>
        <p:nvSpPr>
          <p:cNvPr id="3" name="Propuesta MINTRONICK · Reglas y datos de ejemplo por validar">
            <a:extLst xmlns:a="http://schemas.openxmlformats.org/drawingml/2006/main">
              <a:ext uri="{FF2B5EF4-FFF2-40B4-BE49-F238E27FC236}">
                <a16:creationId xmlns:a16="http://schemas.microsoft.com/office/drawing/2014/main" id="{0040EB43-61D9-4C92-8295-9E8BF0B1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Propuesta MINTRONICK · Reglas y datos de ejemplo por validar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5DC0CD21-E02F-4313-AE6F-85C03900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Página">
            <a:extLst xmlns:a="http://schemas.openxmlformats.org/drawingml/2006/main">
              <a:ext uri="{FF2B5EF4-FFF2-40B4-BE49-F238E27FC236}">
                <a16:creationId xmlns:a16="http://schemas.microsoft.com/office/drawing/2014/main" id="{AF1BD209-F96A-4D32-B18B-69F7AF5F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Página</a:t>
            </a:r>
          </a:p>
        </p:txBody>
      </p:sp>
      <p:sp>
        <p:nvSpPr>
          <p:cNvPr id="6" name="Pregunta del cliente">
            <a:extLst xmlns:a="http://schemas.openxmlformats.org/drawingml/2006/main">
              <a:ext uri="{FF2B5EF4-FFF2-40B4-BE49-F238E27FC236}">
                <a16:creationId xmlns:a16="http://schemas.microsoft.com/office/drawing/2014/main" id="{8537CA4C-5ABB-4F49-BEB2-993504B5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Pregunta del cliente</a:t>
            </a:r>
          </a:p>
        </p:txBody>
      </p:sp>
      <p:sp>
        <p:nvSpPr>
          <p:cNvPr id="7" name="Resultado de la consulta">
            <a:extLst xmlns:a="http://schemas.openxmlformats.org/drawingml/2006/main">
              <a:ext uri="{FF2B5EF4-FFF2-40B4-BE49-F238E27FC236}">
                <a16:creationId xmlns:a16="http://schemas.microsoft.com/office/drawing/2014/main" id="{7D71C66A-6483-40A4-ACB7-D936614C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764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Resultado de la consulta</a:t>
            </a:r>
          </a:p>
        </p:txBody>
      </p:sp>
      <p:sp>
        <p:nvSpPr>
          <p:cNvPr id="8" name="Resumen">
            <a:extLst xmlns:a="http://schemas.openxmlformats.org/drawingml/2006/main">
              <a:ext uri="{FF2B5EF4-FFF2-40B4-BE49-F238E27FC236}">
                <a16:creationId xmlns:a16="http://schemas.microsoft.com/office/drawing/2014/main" id="{DEFC71CB-4A77-4A41-B5F9-008AFC79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0275"/>
            <a:ext cx="27241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Resumen</a:t>
            </a:r>
          </a:p>
        </p:txBody>
      </p:sp>
      <p:sp>
        <p:nvSpPr>
          <p:cNvPr id="9" name="¿Qué requiere atención?">
            <a:extLst xmlns:a="http://schemas.openxmlformats.org/drawingml/2006/main">
              <a:ext uri="{FF2B5EF4-FFF2-40B4-BE49-F238E27FC236}">
                <a16:creationId xmlns:a16="http://schemas.microsoft.com/office/drawing/2014/main" id="{48902E1C-59BF-4D12-A971-745D9B05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00275"/>
            <a:ext cx="3962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¿Qué requiere atención?</a:t>
            </a:r>
          </a:p>
        </p:txBody>
      </p:sp>
      <p:sp>
        <p:nvSpPr>
          <p:cNvPr id="10" name="Prioridades del turno">
            <a:extLst xmlns:a="http://schemas.openxmlformats.org/drawingml/2006/main">
              <a:ext uri="{FF2B5EF4-FFF2-40B4-BE49-F238E27FC236}">
                <a16:creationId xmlns:a16="http://schemas.microsoft.com/office/drawing/2014/main" id="{5E42522E-3EF2-4A42-A7A8-173A40E8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00275"/>
            <a:ext cx="3905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Prioridades del turno</a:t>
            </a:r>
          </a:p>
        </p:txBody>
      </p:sp>
      <p:sp>
        <p:nvSpPr>
          <p:cNvPr id="11" name="Equipos → detalle">
            <a:extLst xmlns:a="http://schemas.openxmlformats.org/drawingml/2006/main">
              <a:ext uri="{FF2B5EF4-FFF2-40B4-BE49-F238E27FC236}">
                <a16:creationId xmlns:a16="http://schemas.microsoft.com/office/drawing/2014/main" id="{44517011-E392-48FD-B274-7D92FF7E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7241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Equipos → detalle</a:t>
            </a:r>
          </a:p>
        </p:txBody>
      </p:sp>
      <p:sp>
        <p:nvSpPr>
          <p:cNvPr id="12" name="¿Qué ocurre en esta máquina?">
            <a:extLst xmlns:a="http://schemas.openxmlformats.org/drawingml/2006/main">
              <a:ext uri="{FF2B5EF4-FFF2-40B4-BE49-F238E27FC236}">
                <a16:creationId xmlns:a16="http://schemas.microsoft.com/office/drawing/2014/main" id="{36D8381F-EA03-4B8D-9ECB-C2BB7636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71800"/>
            <a:ext cx="3962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¿Qué ocurre en esta máquina?</a:t>
            </a:r>
          </a:p>
        </p:txBody>
      </p:sp>
      <p:sp>
        <p:nvSpPr>
          <p:cNvPr id="13" name="Seleccionar, revisar y actuar">
            <a:extLst xmlns:a="http://schemas.openxmlformats.org/drawingml/2006/main">
              <a:ext uri="{FF2B5EF4-FFF2-40B4-BE49-F238E27FC236}">
                <a16:creationId xmlns:a16="http://schemas.microsoft.com/office/drawing/2014/main" id="{6469EE27-F896-47A8-A97C-063C3F56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71800"/>
            <a:ext cx="3905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Seleccionar, revisar y actuar</a:t>
            </a:r>
          </a:p>
        </p:txBody>
      </p:sp>
      <p:sp>
        <p:nvSpPr>
          <p:cNvPr id="14" name="Mapa">
            <a:extLst xmlns:a="http://schemas.openxmlformats.org/drawingml/2006/main">
              <a:ext uri="{FF2B5EF4-FFF2-40B4-BE49-F238E27FC236}">
                <a16:creationId xmlns:a16="http://schemas.microsoft.com/office/drawing/2014/main" id="{D5DB9C04-A4A9-4F98-9BC9-C6D90653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3325"/>
            <a:ext cx="27241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Mapa</a:t>
            </a:r>
          </a:p>
        </p:txBody>
      </p:sp>
      <p:sp>
        <p:nvSpPr>
          <p:cNvPr id="15" name="¿Dónde están y qué ocurre allí?">
            <a:extLst xmlns:a="http://schemas.openxmlformats.org/drawingml/2006/main">
              <a:ext uri="{FF2B5EF4-FFF2-40B4-BE49-F238E27FC236}">
                <a16:creationId xmlns:a16="http://schemas.microsoft.com/office/drawing/2014/main" id="{5BCA159D-892C-4DB0-8138-BDF11B60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43325"/>
            <a:ext cx="3962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¿Dónde están y qué ocurre allí?</a:t>
            </a:r>
          </a:p>
        </p:txBody>
      </p:sp>
      <p:sp>
        <p:nvSpPr>
          <p:cNvPr id="16" name="Ubicación y contexto espacial">
            <a:extLst xmlns:a="http://schemas.openxmlformats.org/drawingml/2006/main">
              <a:ext uri="{FF2B5EF4-FFF2-40B4-BE49-F238E27FC236}">
                <a16:creationId xmlns:a16="http://schemas.microsoft.com/office/drawing/2014/main" id="{A9C01C64-2278-413C-8E38-39B43F1A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43325"/>
            <a:ext cx="3905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Ubicación y contexto espacial</a:t>
            </a:r>
          </a:p>
        </p:txBody>
      </p:sp>
      <p:sp>
        <p:nvSpPr>
          <p:cNvPr id="17" name="Historial">
            <a:extLst xmlns:a="http://schemas.openxmlformats.org/drawingml/2006/main">
              <a:ext uri="{FF2B5EF4-FFF2-40B4-BE49-F238E27FC236}">
                <a16:creationId xmlns:a16="http://schemas.microsoft.com/office/drawing/2014/main" id="{BA83049E-B630-41DD-A320-ECF34DE3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27241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Historial</a:t>
            </a:r>
          </a:p>
        </p:txBody>
      </p:sp>
      <p:sp>
        <p:nvSpPr>
          <p:cNvPr id="18" name="¿Qué pasó antes del evento?">
            <a:extLst xmlns:a="http://schemas.openxmlformats.org/drawingml/2006/main">
              <a:ext uri="{FF2B5EF4-FFF2-40B4-BE49-F238E27FC236}">
                <a16:creationId xmlns:a16="http://schemas.microsoft.com/office/drawing/2014/main" id="{7292D088-3503-46EF-B7A1-22F040E1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514850"/>
            <a:ext cx="3962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¿Qué pasó antes del evento?</a:t>
            </a:r>
          </a:p>
        </p:txBody>
      </p:sp>
      <p:sp>
        <p:nvSpPr>
          <p:cNvPr id="19" name="Tendencias y reconstrucción">
            <a:extLst xmlns:a="http://schemas.openxmlformats.org/drawingml/2006/main">
              <a:ext uri="{FF2B5EF4-FFF2-40B4-BE49-F238E27FC236}">
                <a16:creationId xmlns:a16="http://schemas.microsoft.com/office/drawing/2014/main" id="{882AE0C2-8BA1-45F9-8D22-1C385827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14850"/>
            <a:ext cx="3905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Tendencias y reconstrucción</a:t>
            </a:r>
          </a:p>
        </p:txBody>
      </p:sp>
      <p:sp>
        <p:nvSpPr>
          <p:cNvPr id="20" name="Alertas">
            <a:extLst xmlns:a="http://schemas.openxmlformats.org/drawingml/2006/main">
              <a:ext uri="{FF2B5EF4-FFF2-40B4-BE49-F238E27FC236}">
                <a16:creationId xmlns:a16="http://schemas.microsoft.com/office/drawing/2014/main" id="{CCE51B0A-567D-4DEA-984E-8AEDB456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27241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Alertas</a:t>
            </a:r>
          </a:p>
        </p:txBody>
      </p:sp>
      <p:sp>
        <p:nvSpPr>
          <p:cNvPr id="21" name="¿Quién está atendiendo el problema?">
            <a:extLst xmlns:a="http://schemas.openxmlformats.org/drawingml/2006/main">
              <a:ext uri="{FF2B5EF4-FFF2-40B4-BE49-F238E27FC236}">
                <a16:creationId xmlns:a16="http://schemas.microsoft.com/office/drawing/2014/main" id="{ADD4F5A3-A66A-429D-BABC-1BDDB562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286375"/>
            <a:ext cx="3962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¿Quién está atendiendo el problema?</a:t>
            </a:r>
          </a:p>
        </p:txBody>
      </p:sp>
      <p:sp>
        <p:nvSpPr>
          <p:cNvPr id="22" name="Seguimiento hasta su cierre">
            <a:extLst xmlns:a="http://schemas.openxmlformats.org/drawingml/2006/main">
              <a:ext uri="{FF2B5EF4-FFF2-40B4-BE49-F238E27FC236}">
                <a16:creationId xmlns:a16="http://schemas.microsoft.com/office/drawing/2014/main" id="{18134DB6-4B05-4259-9DBD-82DF1B25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286375"/>
            <a:ext cx="3905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Seguimiento hasta su cierre</a:t>
            </a:r>
          </a:p>
        </p:txBody>
      </p:sp>
    </p:spTree>
    <p:extLst>
      <p:ext uri="{BB962C8B-B14F-4D97-AF65-F5344CB8AC3E}">
        <p14:creationId xmlns:p14="http://schemas.microsoft.com/office/powerpoint/2010/main" val="10895958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ROPUESTA">
            <a:extLst xmlns:a="http://schemas.openxmlformats.org/drawingml/2006/main">
              <a:ext uri="{FF2B5EF4-FFF2-40B4-BE49-F238E27FC236}">
                <a16:creationId xmlns:a16="http://schemas.microsoft.com/office/drawing/2014/main" id="{2A40C352-36DE-4F5A-9275-7598ADC1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PROPUESTA</a:t>
            </a:r>
          </a:p>
        </p:txBody>
      </p:sp>
      <p:sp>
        <p:nvSpPr>
          <p:cNvPr id="2" name="Tres páginas que añaden valor">
            <a:extLst xmlns:a="http://schemas.openxmlformats.org/drawingml/2006/main">
              <a:ext uri="{FF2B5EF4-FFF2-40B4-BE49-F238E27FC236}">
                <a16:creationId xmlns:a16="http://schemas.microsoft.com/office/drawing/2014/main" id="{4691CD6E-A217-4CB6-9F91-06F8D042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Tres páginas que añaden valor</a:t>
            </a:r>
          </a:p>
        </p:txBody>
      </p:sp>
      <p:sp>
        <p:nvSpPr>
          <p:cNvPr id="3" name="Propuesta MINTRONICK · Reglas y datos de ejemplo por validar">
            <a:extLst xmlns:a="http://schemas.openxmlformats.org/drawingml/2006/main">
              <a:ext uri="{FF2B5EF4-FFF2-40B4-BE49-F238E27FC236}">
                <a16:creationId xmlns:a16="http://schemas.microsoft.com/office/drawing/2014/main" id="{4987ADCB-662F-4284-9E64-D735F3A6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Propuesta MINTRONICK · Reglas y datos de ejemplo por validar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699A0492-99BB-4E4D-BDEA-7A2BC52E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Mantenimiento">
            <a:extLst xmlns:a="http://schemas.openxmlformats.org/drawingml/2006/main">
              <a:ext uri="{FF2B5EF4-FFF2-40B4-BE49-F238E27FC236}">
                <a16:creationId xmlns:a16="http://schemas.microsoft.com/office/drawing/2014/main" id="{4D95C480-CED2-4F61-A84D-5F3AD9AC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Mantenimiento</a:t>
            </a:r>
          </a:p>
        </p:txBody>
      </p:sp>
      <p:sp>
        <p:nvSpPr>
          <p:cNvPr id="6" name="Próximos servicios, horas restantes y tareas vencidas.&#10;&#10;Motivo: p">
            <a:extLst xmlns:a="http://schemas.openxmlformats.org/drawingml/2006/main">
              <a:ext uri="{FF2B5EF4-FFF2-40B4-BE49-F238E27FC236}">
                <a16:creationId xmlns:a16="http://schemas.microsoft.com/office/drawing/2014/main" id="{CE980B37-743C-480E-852B-44393EA2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Próximos servicios, horas restantes y tareas vencidas.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Motivo: programar atención antes de una parada.</a:t>
            </a:r>
          </a:p>
        </p:txBody>
      </p:sp>
      <p:sp>
        <p:nvSpPr>
          <p:cNvPr id="7" name="Reportes">
            <a:extLst xmlns:a="http://schemas.openxmlformats.org/drawingml/2006/main">
              <a:ext uri="{FF2B5EF4-FFF2-40B4-BE49-F238E27FC236}">
                <a16:creationId xmlns:a16="http://schemas.microsoft.com/office/drawing/2014/main" id="{3B577326-040E-4001-AC65-AE6555E0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Reportes</a:t>
            </a:r>
          </a:p>
        </p:txBody>
      </p:sp>
      <p:sp>
        <p:nvSpPr>
          <p:cNvPr id="8" name="Uso, ralentí, eventos y cobertura por periodo.&#10;&#10;Motivo: entregar ">
            <a:extLst xmlns:a="http://schemas.openxmlformats.org/drawingml/2006/main">
              <a:ext uri="{FF2B5EF4-FFF2-40B4-BE49-F238E27FC236}">
                <a16:creationId xmlns:a16="http://schemas.microsoft.com/office/drawing/2014/main" id="{790B8DBF-FAF9-471B-B75B-B4605A1F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Uso, ralentí, eventos y cobertura por periodo.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Motivo: entregar evidencia comparable al cliente.</a:t>
            </a:r>
          </a:p>
        </p:txBody>
      </p:sp>
      <p:sp>
        <p:nvSpPr>
          <p:cNvPr id="9" name="Calidad de datos">
            <a:extLst xmlns:a="http://schemas.openxmlformats.org/drawingml/2006/main">
              <a:ext uri="{FF2B5EF4-FFF2-40B4-BE49-F238E27FC236}">
                <a16:creationId xmlns:a16="http://schemas.microsoft.com/office/drawing/2014/main" id="{E3D6C278-011A-439B-97A3-40C43927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Calidad de datos</a:t>
            </a:r>
          </a:p>
        </p:txBody>
      </p:sp>
      <p:sp>
        <p:nvSpPr>
          <p:cNvPr id="10" name="Equipos sin señal, sensores inválidos y retrasos.&#10;&#10;Motivo: saber ">
            <a:extLst xmlns:a="http://schemas.openxmlformats.org/drawingml/2006/main">
              <a:ext uri="{FF2B5EF4-FFF2-40B4-BE49-F238E27FC236}">
                <a16:creationId xmlns:a16="http://schemas.microsoft.com/office/drawing/2014/main" id="{93A7B0EA-3DDF-42C4-B97D-5CEEE988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Equipos sin señal, sensores inválidos y retrasos.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Motivo: saber cuánto se puede confiar en los indicadores.</a:t>
            </a:r>
          </a:p>
        </p:txBody>
      </p:sp>
      <p:sp>
        <p:nvSpPr>
          <p:cNvPr id="11" name="Configuración queda para administradores: usuarios, permisos, reg">
            <a:extLst xmlns:a="http://schemas.openxmlformats.org/drawingml/2006/main">
              <a:ext uri="{FF2B5EF4-FFF2-40B4-BE49-F238E27FC236}">
                <a16:creationId xmlns:a16="http://schemas.microsoft.com/office/drawing/2014/main" id="{F88EA4D5-DFFB-4119-8391-A13DA9A0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48325"/>
            <a:ext cx="1123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87F86"/>
                </a:solidFill>
                <a:latin typeface="Arial"/>
                <a:ea typeface="Arial"/>
                <a:cs typeface="Arial"/>
              </a:rPr>
              <a:t>Configuración queda para administradores: usuarios, permisos, reglas, turnos y geocercas.</a:t>
            </a:r>
          </a:p>
        </p:txBody>
      </p:sp>
    </p:spTree>
    <p:extLst>
      <p:ext uri="{BB962C8B-B14F-4D97-AF65-F5344CB8AC3E}">
        <p14:creationId xmlns:p14="http://schemas.microsoft.com/office/powerpoint/2010/main" val="7619516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ISEÑO CONCEPTUAL">
            <a:extLst xmlns:a="http://schemas.openxmlformats.org/drawingml/2006/main">
              <a:ext uri="{FF2B5EF4-FFF2-40B4-BE49-F238E27FC236}">
                <a16:creationId xmlns:a16="http://schemas.microsoft.com/office/drawing/2014/main" id="{F95ACA27-F893-4653-AACE-AF285434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DISEÑO CONCEPTUAL</a:t>
            </a:r>
          </a:p>
        </p:txBody>
      </p:sp>
      <p:sp>
        <p:nvSpPr>
          <p:cNvPr id="2" name="Resumen: entrar por las prioridades">
            <a:extLst xmlns:a="http://schemas.openxmlformats.org/drawingml/2006/main">
              <a:ext uri="{FF2B5EF4-FFF2-40B4-BE49-F238E27FC236}">
                <a16:creationId xmlns:a16="http://schemas.microsoft.com/office/drawing/2014/main" id="{7793B05F-494F-4BAE-9E81-5880DC73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Resumen: entrar por las prioridades</a:t>
            </a:r>
          </a:p>
        </p:txBody>
      </p:sp>
      <p:sp>
        <p:nvSpPr>
          <p:cNvPr id="3" name="Imagen conceptual generada con IA · Datos ilustrativos · No es un">
            <a:extLst xmlns:a="http://schemas.openxmlformats.org/drawingml/2006/main">
              <a:ext uri="{FF2B5EF4-FFF2-40B4-BE49-F238E27FC236}">
                <a16:creationId xmlns:a16="http://schemas.microsoft.com/office/drawing/2014/main" id="{E11BAB45-3D5E-4EFF-8BB3-A0AA6B51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Imagen conceptual generada con IA · Datos ilustrativos · No es una aplicación funcional</a:t>
            </a:r>
          </a:p>
        </p:txBody>
      </p:sp>
      <p:sp>
        <p:nvSpPr>
          <p:cNvPr id="4" name="13">
            <a:extLst xmlns:a="http://schemas.openxmlformats.org/drawingml/2006/main">
              <a:ext uri="{FF2B5EF4-FFF2-40B4-BE49-F238E27FC236}">
                <a16:creationId xmlns:a16="http://schemas.microsoft.com/office/drawing/2014/main" id="{053E1630-20C0-4982-AFA8-C1ABECA8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6aecf0564d4787"/>
          <a:stretch xmlns:a="http://schemas.openxmlformats.org/drawingml/2006/main"/>
        </p:blipFill>
        <p:spPr>
          <a:xfrm xmlns:a="http://schemas.openxmlformats.org/drawingml/2006/main">
            <a:off x="2118781" y="1428750"/>
            <a:ext cx="7954438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La lista identifica el equipo; las prioridades explican por qué r">
            <a:extLst xmlns:a="http://schemas.openxmlformats.org/drawingml/2006/main">
              <a:ext uri="{FF2B5EF4-FFF2-40B4-BE49-F238E27FC236}">
                <a16:creationId xmlns:a16="http://schemas.microsoft.com/office/drawing/2014/main" id="{525774B1-971C-4589-9439-0D300BCC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1700"/>
            <a:ext cx="1127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2D"/>
                </a:solidFill>
                <a:latin typeface="Arial"/>
                <a:ea typeface="Arial"/>
                <a:cs typeface="Arial"/>
              </a:rPr>
              <a:t>La lista identifica el equipo; las prioridades explican por qué revisarlo.</a:t>
            </a:r>
          </a:p>
        </p:txBody>
      </p:sp>
    </p:spTree>
    <p:extLst>
      <p:ext uri="{BB962C8B-B14F-4D97-AF65-F5344CB8AC3E}">
        <p14:creationId xmlns:p14="http://schemas.microsoft.com/office/powerpoint/2010/main" val="5295692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ROPUESTA">
            <a:extLst xmlns:a="http://schemas.openxmlformats.org/drawingml/2006/main">
              <a:ext uri="{FF2B5EF4-FFF2-40B4-BE49-F238E27FC236}">
                <a16:creationId xmlns:a16="http://schemas.microsoft.com/office/drawing/2014/main" id="{6F715714-AAC3-4E87-ABF5-D7F75754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PROPUESTA</a:t>
            </a:r>
          </a:p>
        </p:txBody>
      </p:sp>
      <p:sp>
        <p:nvSpPr>
          <p:cNvPr id="2" name="Equipos: encontrar, comparar y abrir">
            <a:extLst xmlns:a="http://schemas.openxmlformats.org/drawingml/2006/main">
              <a:ext uri="{FF2B5EF4-FFF2-40B4-BE49-F238E27FC236}">
                <a16:creationId xmlns:a16="http://schemas.microsoft.com/office/drawing/2014/main" id="{06EBFD33-7FC2-4D78-905C-B465BBDC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Equipos: encontrar, comparar y abrir</a:t>
            </a:r>
          </a:p>
        </p:txBody>
      </p:sp>
      <p:sp>
        <p:nvSpPr>
          <p:cNvPr id="3" name="Propuesta MINTRONICK · Reglas y datos de ejemplo por validar">
            <a:extLst xmlns:a="http://schemas.openxmlformats.org/drawingml/2006/main">
              <a:ext uri="{FF2B5EF4-FFF2-40B4-BE49-F238E27FC236}">
                <a16:creationId xmlns:a16="http://schemas.microsoft.com/office/drawing/2014/main" id="{83E4F582-7594-413E-AF93-1CF8E1DE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Propuesta MINTRONICK · Reglas y datos de ejemplo por validar</a:t>
            </a:r>
          </a:p>
        </p:txBody>
      </p:sp>
      <p:sp>
        <p:nvSpPr>
          <p:cNvPr id="4" name="14">
            <a:extLst xmlns:a="http://schemas.openxmlformats.org/drawingml/2006/main">
              <a:ext uri="{FF2B5EF4-FFF2-40B4-BE49-F238E27FC236}">
                <a16:creationId xmlns:a16="http://schemas.microsoft.com/office/drawing/2014/main" id="{5CC60E52-135D-4FA8-B942-3916C42B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Elemento">
            <a:extLst xmlns:a="http://schemas.openxmlformats.org/drawingml/2006/main">
              <a:ext uri="{FF2B5EF4-FFF2-40B4-BE49-F238E27FC236}">
                <a16:creationId xmlns:a16="http://schemas.microsoft.com/office/drawing/2014/main" id="{CD775488-C507-4143-805A-0211B80F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Elemento</a:t>
            </a:r>
          </a:p>
        </p:txBody>
      </p:sp>
      <p:sp>
        <p:nvSpPr>
          <p:cNvPr id="6" name="Por qué se muestra">
            <a:extLst xmlns:a="http://schemas.openxmlformats.org/drawingml/2006/main">
              <a:ext uri="{FF2B5EF4-FFF2-40B4-BE49-F238E27FC236}">
                <a16:creationId xmlns:a16="http://schemas.microsoft.com/office/drawing/2014/main" id="{7747E59B-5641-40E7-9E7B-14F523B2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811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Por qué se muestra</a:t>
            </a:r>
          </a:p>
        </p:txBody>
      </p:sp>
      <p:sp>
        <p:nvSpPr>
          <p:cNvPr id="7" name="Regla de interacción">
            <a:extLst xmlns:a="http://schemas.openxmlformats.org/drawingml/2006/main">
              <a:ext uri="{FF2B5EF4-FFF2-40B4-BE49-F238E27FC236}">
                <a16:creationId xmlns:a16="http://schemas.microsoft.com/office/drawing/2014/main" id="{0E15183E-1428-44AD-B40B-DADCCDC5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8115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Regla de interacción</a:t>
            </a:r>
          </a:p>
        </p:txBody>
      </p:sp>
      <p:sp>
        <p:nvSpPr>
          <p:cNvPr id="8" name="Buscador y filtros">
            <a:extLst xmlns:a="http://schemas.openxmlformats.org/drawingml/2006/main">
              <a:ext uri="{FF2B5EF4-FFF2-40B4-BE49-F238E27FC236}">
                <a16:creationId xmlns:a16="http://schemas.microsoft.com/office/drawing/2014/main" id="{1D206D1A-024C-4A4E-8236-624AA7FE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5025"/>
            <a:ext cx="2724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Buscador y filtros</a:t>
            </a:r>
          </a:p>
        </p:txBody>
      </p:sp>
      <p:sp>
        <p:nvSpPr>
          <p:cNvPr id="9" name="Evitar recorrer un selector largo">
            <a:extLst xmlns:a="http://schemas.openxmlformats.org/drawingml/2006/main">
              <a:ext uri="{FF2B5EF4-FFF2-40B4-BE49-F238E27FC236}">
                <a16:creationId xmlns:a16="http://schemas.microsoft.com/office/drawing/2014/main" id="{370EE22D-8508-446C-84C1-C47EEB8F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05025"/>
            <a:ext cx="3962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Evitar recorrer un selector largo</a:t>
            </a:r>
          </a:p>
        </p:txBody>
      </p:sp>
      <p:sp>
        <p:nvSpPr>
          <p:cNvPr id="10" name="ID, alias, modelo, operación y estado">
            <a:extLst xmlns:a="http://schemas.openxmlformats.org/drawingml/2006/main">
              <a:ext uri="{FF2B5EF4-FFF2-40B4-BE49-F238E27FC236}">
                <a16:creationId xmlns:a16="http://schemas.microsoft.com/office/drawing/2014/main" id="{DC70E130-A4A6-4E9F-A3F4-5F3046D8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05025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ID, alias, modelo, operación y estado</a:t>
            </a:r>
          </a:p>
        </p:txBody>
      </p:sp>
      <p:sp>
        <p:nvSpPr>
          <p:cNvPr id="11" name="Tabla de toda la flota">
            <a:extLst xmlns:a="http://schemas.openxmlformats.org/drawingml/2006/main">
              <a:ext uri="{FF2B5EF4-FFF2-40B4-BE49-F238E27FC236}">
                <a16:creationId xmlns:a16="http://schemas.microsoft.com/office/drawing/2014/main" id="{EDC86763-E0D2-4FBA-9A77-7159392C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6075"/>
            <a:ext cx="2724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Tabla de toda la flota</a:t>
            </a:r>
          </a:p>
        </p:txBody>
      </p:sp>
      <p:sp>
        <p:nvSpPr>
          <p:cNvPr id="12" name="Comparar equipos con pocas columnas">
            <a:extLst xmlns:a="http://schemas.openxmlformats.org/drawingml/2006/main">
              <a:ext uri="{FF2B5EF4-FFF2-40B4-BE49-F238E27FC236}">
                <a16:creationId xmlns:a16="http://schemas.microsoft.com/office/drawing/2014/main" id="{BDAD23B2-9B4D-46B5-BD6E-7F250DF6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86075"/>
            <a:ext cx="3962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Comparar equipos con pocas columnas</a:t>
            </a:r>
          </a:p>
        </p:txBody>
      </p:sp>
      <p:sp>
        <p:nvSpPr>
          <p:cNvPr id="13" name="Ordenar por criticidad o antigüedad">
            <a:extLst xmlns:a="http://schemas.openxmlformats.org/drawingml/2006/main">
              <a:ext uri="{FF2B5EF4-FFF2-40B4-BE49-F238E27FC236}">
                <a16:creationId xmlns:a16="http://schemas.microsoft.com/office/drawing/2014/main" id="{885B4102-E64B-413B-952E-077C7D0A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86075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Ordenar por criticidad o antigüedad</a:t>
            </a:r>
          </a:p>
        </p:txBody>
      </p:sp>
      <p:sp>
        <p:nvSpPr>
          <p:cNvPr id="14" name="Salud + operación + conexión">
            <a:extLst xmlns:a="http://schemas.openxmlformats.org/drawingml/2006/main">
              <a:ext uri="{FF2B5EF4-FFF2-40B4-BE49-F238E27FC236}">
                <a16:creationId xmlns:a16="http://schemas.microsoft.com/office/drawing/2014/main" id="{6D74B17D-7EB0-4275-ADD0-221FB7AB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67125"/>
            <a:ext cx="2724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Salud + operación + conexión</a:t>
            </a:r>
          </a:p>
        </p:txBody>
      </p:sp>
      <p:sp>
        <p:nvSpPr>
          <p:cNvPr id="15" name="Evitar estados ambiguos">
            <a:extLst xmlns:a="http://schemas.openxmlformats.org/drawingml/2006/main">
              <a:ext uri="{FF2B5EF4-FFF2-40B4-BE49-F238E27FC236}">
                <a16:creationId xmlns:a16="http://schemas.microsoft.com/office/drawing/2014/main" id="{B743D4CE-E6D6-460E-9FCB-3901C689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67125"/>
            <a:ext cx="3962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Evitar estados ambiguos</a:t>
            </a:r>
          </a:p>
        </p:txBody>
      </p:sp>
      <p:sp>
        <p:nvSpPr>
          <p:cNvPr id="16" name="Tres campos independientes">
            <a:extLst xmlns:a="http://schemas.openxmlformats.org/drawingml/2006/main">
              <a:ext uri="{FF2B5EF4-FFF2-40B4-BE49-F238E27FC236}">
                <a16:creationId xmlns:a16="http://schemas.microsoft.com/office/drawing/2014/main" id="{17065E7C-1182-4DEF-A89A-F31DA3E3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67125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Tres campos independientes</a:t>
            </a:r>
          </a:p>
        </p:txBody>
      </p:sp>
      <p:sp>
        <p:nvSpPr>
          <p:cNvPr id="17" name="Último dato por equipo">
            <a:extLst xmlns:a="http://schemas.openxmlformats.org/drawingml/2006/main">
              <a:ext uri="{FF2B5EF4-FFF2-40B4-BE49-F238E27FC236}">
                <a16:creationId xmlns:a16="http://schemas.microsoft.com/office/drawing/2014/main" id="{517E1E1E-467F-4A8E-BFEF-EA2E8074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48175"/>
            <a:ext cx="2724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Último dato por equipo</a:t>
            </a:r>
          </a:p>
        </p:txBody>
      </p:sp>
      <p:sp>
        <p:nvSpPr>
          <p:cNvPr id="18" name="Detectar información desactualizada">
            <a:extLst xmlns:a="http://schemas.openxmlformats.org/drawingml/2006/main">
              <a:ext uri="{FF2B5EF4-FFF2-40B4-BE49-F238E27FC236}">
                <a16:creationId xmlns:a16="http://schemas.microsoft.com/office/drawing/2014/main" id="{2206908D-F8E3-40B2-BE9C-02982D16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48175"/>
            <a:ext cx="3962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Detectar información desactualizada</a:t>
            </a:r>
          </a:p>
        </p:txBody>
      </p:sp>
      <p:sp>
        <p:nvSpPr>
          <p:cNvPr id="19" name="Abrir calidad de datos al hacer clic">
            <a:extLst xmlns:a="http://schemas.openxmlformats.org/drawingml/2006/main">
              <a:ext uri="{FF2B5EF4-FFF2-40B4-BE49-F238E27FC236}">
                <a16:creationId xmlns:a16="http://schemas.microsoft.com/office/drawing/2014/main" id="{67DB0FAF-8701-4955-A997-83319DE4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48175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Abrir calidad de datos al hacer clic</a:t>
            </a:r>
          </a:p>
        </p:txBody>
      </p:sp>
      <p:sp>
        <p:nvSpPr>
          <p:cNvPr id="20" name="Detalle lateral / ficha">
            <a:extLst xmlns:a="http://schemas.openxmlformats.org/drawingml/2006/main">
              <a:ext uri="{FF2B5EF4-FFF2-40B4-BE49-F238E27FC236}">
                <a16:creationId xmlns:a16="http://schemas.microsoft.com/office/drawing/2014/main" id="{4A4A5444-9681-4C52-9FBE-3265348C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29225"/>
            <a:ext cx="2724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Detalle lateral / ficha</a:t>
            </a:r>
          </a:p>
        </p:txBody>
      </p:sp>
      <p:sp>
        <p:nvSpPr>
          <p:cNvPr id="21" name="Revisar sin perder el contexto">
            <a:extLst xmlns:a="http://schemas.openxmlformats.org/drawingml/2006/main">
              <a:ext uri="{FF2B5EF4-FFF2-40B4-BE49-F238E27FC236}">
                <a16:creationId xmlns:a16="http://schemas.microsoft.com/office/drawing/2014/main" id="{1D2FC95E-EEBF-481B-93D7-06276CE1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229225"/>
            <a:ext cx="3962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Revisar sin perder el contexto</a:t>
            </a:r>
          </a:p>
        </p:txBody>
      </p:sp>
      <p:sp>
        <p:nvSpPr>
          <p:cNvPr id="22" name="Conservar filtros al volver a la lista">
            <a:extLst xmlns:a="http://schemas.openxmlformats.org/drawingml/2006/main">
              <a:ext uri="{FF2B5EF4-FFF2-40B4-BE49-F238E27FC236}">
                <a16:creationId xmlns:a16="http://schemas.microsoft.com/office/drawing/2014/main" id="{A50FA2E1-9391-4260-A8DF-673DB266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229225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Conservar filtros al volver a la lista</a:t>
            </a:r>
          </a:p>
        </p:txBody>
      </p:sp>
    </p:spTree>
    <p:extLst>
      <p:ext uri="{BB962C8B-B14F-4D97-AF65-F5344CB8AC3E}">
        <p14:creationId xmlns:p14="http://schemas.microsoft.com/office/powerpoint/2010/main" val="465178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ISEÑO CONCEPTUAL">
            <a:extLst xmlns:a="http://schemas.openxmlformats.org/drawingml/2006/main">
              <a:ext uri="{FF2B5EF4-FFF2-40B4-BE49-F238E27FC236}">
                <a16:creationId xmlns:a16="http://schemas.microsoft.com/office/drawing/2014/main" id="{29CB2163-AE52-4538-8999-B6A2BFEC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DISEÑO CONCEPTUAL</a:t>
            </a:r>
          </a:p>
        </p:txBody>
      </p:sp>
      <p:sp>
        <p:nvSpPr>
          <p:cNvPr id="2" name="Equipo: dato, límite y acción">
            <a:extLst xmlns:a="http://schemas.openxmlformats.org/drawingml/2006/main">
              <a:ext uri="{FF2B5EF4-FFF2-40B4-BE49-F238E27FC236}">
                <a16:creationId xmlns:a16="http://schemas.microsoft.com/office/drawing/2014/main" id="{33CF13A8-0935-4666-8696-A836F302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Equipo: dato, límite y acción</a:t>
            </a:r>
          </a:p>
        </p:txBody>
      </p:sp>
      <p:sp>
        <p:nvSpPr>
          <p:cNvPr id="3" name="Imagen conceptual generada con IA · Datos ilustrativos · No es un">
            <a:extLst xmlns:a="http://schemas.openxmlformats.org/drawingml/2006/main">
              <a:ext uri="{FF2B5EF4-FFF2-40B4-BE49-F238E27FC236}">
                <a16:creationId xmlns:a16="http://schemas.microsoft.com/office/drawing/2014/main" id="{4153580C-64E2-4159-9A5A-BDA211BF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Imagen conceptual generada con IA · Datos ilustrativos · No es una aplicación funcional</a:t>
            </a:r>
          </a:p>
        </p:txBody>
      </p:sp>
      <p:sp>
        <p:nvSpPr>
          <p:cNvPr id="4" name="15">
            <a:extLst xmlns:a="http://schemas.openxmlformats.org/drawingml/2006/main">
              <a:ext uri="{FF2B5EF4-FFF2-40B4-BE49-F238E27FC236}">
                <a16:creationId xmlns:a16="http://schemas.microsoft.com/office/drawing/2014/main" id="{F312D731-34F2-4079-BEBE-E90CC193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94e90be194ecb"/>
          <a:stretch xmlns:a="http://schemas.openxmlformats.org/drawingml/2006/main"/>
        </p:blipFill>
        <p:spPr>
          <a:xfrm xmlns:a="http://schemas.openxmlformats.org/drawingml/2006/main">
            <a:off x="2118781" y="1428750"/>
            <a:ext cx="7954438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El detalle cambia según la máquina. Un camión y una pala no neces">
            <a:extLst xmlns:a="http://schemas.openxmlformats.org/drawingml/2006/main">
              <a:ext uri="{FF2B5EF4-FFF2-40B4-BE49-F238E27FC236}">
                <a16:creationId xmlns:a16="http://schemas.microsoft.com/office/drawing/2014/main" id="{E64BE334-7817-4867-9D30-AD7B3985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1700"/>
            <a:ext cx="1127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2D"/>
                </a:solidFill>
                <a:latin typeface="Arial"/>
                <a:ea typeface="Arial"/>
                <a:cs typeface="Arial"/>
              </a:rPr>
              <a:t>El detalle cambia según la máquina. Un camión y una pala no necesitan los mismos indicadores.</a:t>
            </a:r>
          </a:p>
        </p:txBody>
      </p:sp>
    </p:spTree>
    <p:extLst>
      <p:ext uri="{BB962C8B-B14F-4D97-AF65-F5344CB8AC3E}">
        <p14:creationId xmlns:p14="http://schemas.microsoft.com/office/powerpoint/2010/main" val="597235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ROPUESTA">
            <a:extLst xmlns:a="http://schemas.openxmlformats.org/drawingml/2006/main">
              <a:ext uri="{FF2B5EF4-FFF2-40B4-BE49-F238E27FC236}">
                <a16:creationId xmlns:a16="http://schemas.microsoft.com/office/drawing/2014/main" id="{7FBD83FD-BD22-43B3-99CE-390660FE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PROPUESTA</a:t>
            </a:r>
          </a:p>
        </p:txBody>
      </p:sp>
      <p:sp>
        <p:nvSpPr>
          <p:cNvPr id="2" name="Cada indicador debe responder algo">
            <a:extLst xmlns:a="http://schemas.openxmlformats.org/drawingml/2006/main">
              <a:ext uri="{FF2B5EF4-FFF2-40B4-BE49-F238E27FC236}">
                <a16:creationId xmlns:a16="http://schemas.microsoft.com/office/drawing/2014/main" id="{3F9BC048-0318-454C-9E06-B607C4D1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Cada indicador debe responder algo</a:t>
            </a:r>
          </a:p>
        </p:txBody>
      </p:sp>
      <p:sp>
        <p:nvSpPr>
          <p:cNvPr id="3" name="Propuesta MINTRONICK · Reglas y datos de ejemplo por validar">
            <a:extLst xmlns:a="http://schemas.openxmlformats.org/drawingml/2006/main">
              <a:ext uri="{FF2B5EF4-FFF2-40B4-BE49-F238E27FC236}">
                <a16:creationId xmlns:a16="http://schemas.microsoft.com/office/drawing/2014/main" id="{352BD592-1507-4016-AC14-58664933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Propuesta MINTRONICK · Reglas y datos de ejemplo por validar</a:t>
            </a:r>
          </a:p>
        </p:txBody>
      </p:sp>
      <p:sp>
        <p:nvSpPr>
          <p:cNvPr id="4" name="16">
            <a:extLst xmlns:a="http://schemas.openxmlformats.org/drawingml/2006/main">
              <a:ext uri="{FF2B5EF4-FFF2-40B4-BE49-F238E27FC236}">
                <a16:creationId xmlns:a16="http://schemas.microsoft.com/office/drawing/2014/main" id="{32D18E0A-4F94-421C-9950-2CD0EF90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Indicador">
            <a:extLst xmlns:a="http://schemas.openxmlformats.org/drawingml/2006/main">
              <a:ext uri="{FF2B5EF4-FFF2-40B4-BE49-F238E27FC236}">
                <a16:creationId xmlns:a16="http://schemas.microsoft.com/office/drawing/2014/main" id="{5E8B0DA6-F42D-4D8C-BAC9-F9A596AC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Indicador</a:t>
            </a:r>
          </a:p>
        </p:txBody>
      </p:sp>
      <p:sp>
        <p:nvSpPr>
          <p:cNvPr id="6" name="Decisión que permite">
            <a:extLst xmlns:a="http://schemas.openxmlformats.org/drawingml/2006/main">
              <a:ext uri="{FF2B5EF4-FFF2-40B4-BE49-F238E27FC236}">
                <a16:creationId xmlns:a16="http://schemas.microsoft.com/office/drawing/2014/main" id="{1E17AA82-1C51-4C62-94A1-1CDC3143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5811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Decisión que permite</a:t>
            </a:r>
          </a:p>
        </p:txBody>
      </p:sp>
      <p:sp>
        <p:nvSpPr>
          <p:cNvPr id="7" name="Representación recomendada">
            <a:extLst xmlns:a="http://schemas.openxmlformats.org/drawingml/2006/main">
              <a:ext uri="{FF2B5EF4-FFF2-40B4-BE49-F238E27FC236}">
                <a16:creationId xmlns:a16="http://schemas.microsoft.com/office/drawing/2014/main" id="{CDBCE487-9689-468C-8EF2-98DB5C91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581150"/>
            <a:ext cx="4086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Representación recomendada</a:t>
            </a:r>
          </a:p>
        </p:txBody>
      </p:sp>
      <p:sp>
        <p:nvSpPr>
          <p:cNvPr id="8" name="Velocidad · km/h">
            <a:extLst xmlns:a="http://schemas.openxmlformats.org/drawingml/2006/main">
              <a:ext uri="{FF2B5EF4-FFF2-40B4-BE49-F238E27FC236}">
                <a16:creationId xmlns:a16="http://schemas.microsoft.com/office/drawing/2014/main" id="{94E21DA2-7AA0-4AEF-B096-29D7CBED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5025"/>
            <a:ext cx="26765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Velocidad · km/h</a:t>
            </a:r>
          </a:p>
        </p:txBody>
      </p:sp>
      <p:sp>
        <p:nvSpPr>
          <p:cNvPr id="9" name="Revisar exceso según zona">
            <a:extLst xmlns:a="http://schemas.openxmlformats.org/drawingml/2006/main">
              <a:ext uri="{FF2B5EF4-FFF2-40B4-BE49-F238E27FC236}">
                <a16:creationId xmlns:a16="http://schemas.microsoft.com/office/drawing/2014/main" id="{7F417BF3-4B02-484A-ACAF-0F955D1D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105025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Revisar exceso según zona</a:t>
            </a:r>
          </a:p>
        </p:txBody>
      </p:sp>
      <p:sp>
        <p:nvSpPr>
          <p:cNvPr id="10" name="Valor + límite + tendencia">
            <a:extLst xmlns:a="http://schemas.openxmlformats.org/drawingml/2006/main">
              <a:ext uri="{FF2B5EF4-FFF2-40B4-BE49-F238E27FC236}">
                <a16:creationId xmlns:a16="http://schemas.microsoft.com/office/drawing/2014/main" id="{A96F99C1-823D-474A-8D70-E78E676A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105025"/>
            <a:ext cx="4048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Valor + límite + tendencia</a:t>
            </a:r>
          </a:p>
        </p:txBody>
      </p:sp>
      <p:sp>
        <p:nvSpPr>
          <p:cNvPr id="11" name="Combustible · % y L">
            <a:extLst xmlns:a="http://schemas.openxmlformats.org/drawingml/2006/main">
              <a:ext uri="{FF2B5EF4-FFF2-40B4-BE49-F238E27FC236}">
                <a16:creationId xmlns:a16="http://schemas.microsoft.com/office/drawing/2014/main" id="{11B833AE-8976-462D-A7C8-9CF4F71A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6075"/>
            <a:ext cx="26765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Combustible · % y L</a:t>
            </a:r>
          </a:p>
        </p:txBody>
      </p:sp>
      <p:sp>
        <p:nvSpPr>
          <p:cNvPr id="12" name="Planificar abastecimiento">
            <a:extLst xmlns:a="http://schemas.openxmlformats.org/drawingml/2006/main">
              <a:ext uri="{FF2B5EF4-FFF2-40B4-BE49-F238E27FC236}">
                <a16:creationId xmlns:a16="http://schemas.microsoft.com/office/drawing/2014/main" id="{E07CB604-536C-473F-8074-23F4E893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886075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Planificar abastecimiento</a:t>
            </a:r>
          </a:p>
        </p:txBody>
      </p:sp>
      <p:sp>
        <p:nvSpPr>
          <p:cNvPr id="13" name="Nivel; litros solo con sensor/calibración">
            <a:extLst xmlns:a="http://schemas.openxmlformats.org/drawingml/2006/main">
              <a:ext uri="{FF2B5EF4-FFF2-40B4-BE49-F238E27FC236}">
                <a16:creationId xmlns:a16="http://schemas.microsoft.com/office/drawing/2014/main" id="{45A62533-FB10-4034-B751-49694266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886075"/>
            <a:ext cx="4048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Nivel; litros solo con sensor/calibración</a:t>
            </a:r>
          </a:p>
        </p:txBody>
      </p:sp>
      <p:sp>
        <p:nvSpPr>
          <p:cNvPr id="14" name="Temperatura · °C">
            <a:extLst xmlns:a="http://schemas.openxmlformats.org/drawingml/2006/main">
              <a:ext uri="{FF2B5EF4-FFF2-40B4-BE49-F238E27FC236}">
                <a16:creationId xmlns:a16="http://schemas.microsoft.com/office/drawing/2014/main" id="{85A1490B-9DC8-491D-AF44-3F955FA4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67125"/>
            <a:ext cx="26765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Temperatura · °C</a:t>
            </a:r>
          </a:p>
        </p:txBody>
      </p:sp>
      <p:sp>
        <p:nvSpPr>
          <p:cNvPr id="15" name="Revisar condición térmica">
            <a:extLst xmlns:a="http://schemas.openxmlformats.org/drawingml/2006/main">
              <a:ext uri="{FF2B5EF4-FFF2-40B4-BE49-F238E27FC236}">
                <a16:creationId xmlns:a16="http://schemas.microsoft.com/office/drawing/2014/main" id="{F47AB91D-5CBE-4D2A-B896-B2FCAFB4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667125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Revisar condición térmica</a:t>
            </a:r>
          </a:p>
        </p:txBody>
      </p:sp>
      <p:sp>
        <p:nvSpPr>
          <p:cNvPr id="16" name="Valor + banda por modelo + tendencia">
            <a:extLst xmlns:a="http://schemas.openxmlformats.org/drawingml/2006/main">
              <a:ext uri="{FF2B5EF4-FFF2-40B4-BE49-F238E27FC236}">
                <a16:creationId xmlns:a16="http://schemas.microsoft.com/office/drawing/2014/main" id="{9780C012-A6D3-4552-ABC4-E2D0F875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667125"/>
            <a:ext cx="4048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Valor + banda por modelo + tendencia</a:t>
            </a:r>
          </a:p>
        </p:txBody>
      </p:sp>
      <p:sp>
        <p:nvSpPr>
          <p:cNvPr id="17" name="Horómetro · h">
            <a:extLst xmlns:a="http://schemas.openxmlformats.org/drawingml/2006/main">
              <a:ext uri="{FF2B5EF4-FFF2-40B4-BE49-F238E27FC236}">
                <a16:creationId xmlns:a16="http://schemas.microsoft.com/office/drawing/2014/main" id="{C6EED1CD-D447-48D0-BABA-2D8E6ACB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48175"/>
            <a:ext cx="26765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Horómetro · h</a:t>
            </a:r>
          </a:p>
        </p:txBody>
      </p:sp>
      <p:sp>
        <p:nvSpPr>
          <p:cNvPr id="18" name="Programar servicio">
            <a:extLst xmlns:a="http://schemas.openxmlformats.org/drawingml/2006/main">
              <a:ext uri="{FF2B5EF4-FFF2-40B4-BE49-F238E27FC236}">
                <a16:creationId xmlns:a16="http://schemas.microsoft.com/office/drawing/2014/main" id="{5178F57D-18CE-4F93-8187-9F9AF313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448175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Programar servicio</a:t>
            </a:r>
          </a:p>
        </p:txBody>
      </p:sp>
      <p:sp>
        <p:nvSpPr>
          <p:cNvPr id="19" name="Valor y horas restantes">
            <a:extLst xmlns:a="http://schemas.openxmlformats.org/drawingml/2006/main">
              <a:ext uri="{FF2B5EF4-FFF2-40B4-BE49-F238E27FC236}">
                <a16:creationId xmlns:a16="http://schemas.microsoft.com/office/drawing/2014/main" id="{6F9B5260-80B1-4138-A815-00950208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448175"/>
            <a:ext cx="4048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Valor y horas restantes</a:t>
            </a:r>
          </a:p>
        </p:txBody>
      </p:sp>
      <p:sp>
        <p:nvSpPr>
          <p:cNvPr id="20" name="RPM / presión / marcha">
            <a:extLst xmlns:a="http://schemas.openxmlformats.org/drawingml/2006/main">
              <a:ext uri="{FF2B5EF4-FFF2-40B4-BE49-F238E27FC236}">
                <a16:creationId xmlns:a16="http://schemas.microsoft.com/office/drawing/2014/main" id="{10ACE0C8-AA9B-47F2-889C-435A2851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29225"/>
            <a:ext cx="26765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RPM / presión / marcha</a:t>
            </a:r>
          </a:p>
        </p:txBody>
      </p:sp>
      <p:sp>
        <p:nvSpPr>
          <p:cNvPr id="21" name="Investigar un síntoma">
            <a:extLst xmlns:a="http://schemas.openxmlformats.org/drawingml/2006/main">
              <a:ext uri="{FF2B5EF4-FFF2-40B4-BE49-F238E27FC236}">
                <a16:creationId xmlns:a16="http://schemas.microsoft.com/office/drawing/2014/main" id="{5282D6CC-B3BD-400F-AE2A-2D2AB234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229225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Investigar un síntoma</a:t>
            </a:r>
          </a:p>
        </p:txBody>
      </p:sp>
      <p:sp>
        <p:nvSpPr>
          <p:cNvPr id="22" name="Detalle técnico; códigos decodificados">
            <a:extLst xmlns:a="http://schemas.openxmlformats.org/drawingml/2006/main">
              <a:ext uri="{FF2B5EF4-FFF2-40B4-BE49-F238E27FC236}">
                <a16:creationId xmlns:a16="http://schemas.microsoft.com/office/drawing/2014/main" id="{83C2792F-99BB-45A4-BF70-B6D8A7EE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5229225"/>
            <a:ext cx="4048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Detalle técnico; códigos decodificados</a:t>
            </a:r>
          </a:p>
        </p:txBody>
      </p:sp>
    </p:spTree>
    <p:extLst>
      <p:ext uri="{BB962C8B-B14F-4D97-AF65-F5344CB8AC3E}">
        <p14:creationId xmlns:p14="http://schemas.microsoft.com/office/powerpoint/2010/main" val="17075991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ROPUESTA">
            <a:extLst xmlns:a="http://schemas.openxmlformats.org/drawingml/2006/main">
              <a:ext uri="{FF2B5EF4-FFF2-40B4-BE49-F238E27FC236}">
                <a16:creationId xmlns:a16="http://schemas.microsoft.com/office/drawing/2014/main" id="{67D1758B-4958-4C54-B922-9E235A6F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PROPUESTA</a:t>
            </a:r>
          </a:p>
        </p:txBody>
      </p:sp>
      <p:sp>
        <p:nvSpPr>
          <p:cNvPr id="2" name="El color debe tener una sola intención">
            <a:extLst xmlns:a="http://schemas.openxmlformats.org/drawingml/2006/main">
              <a:ext uri="{FF2B5EF4-FFF2-40B4-BE49-F238E27FC236}">
                <a16:creationId xmlns:a16="http://schemas.microsoft.com/office/drawing/2014/main" id="{15610727-E419-4A59-BFC9-F46674E3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El color debe tener una sola intención</a:t>
            </a:r>
          </a:p>
        </p:txBody>
      </p:sp>
      <p:sp>
        <p:nvSpPr>
          <p:cNvPr id="3" name="Propuesta MINTRONICK · Reglas y datos de ejemplo por validar">
            <a:extLst xmlns:a="http://schemas.openxmlformats.org/drawingml/2006/main">
              <a:ext uri="{FF2B5EF4-FFF2-40B4-BE49-F238E27FC236}">
                <a16:creationId xmlns:a16="http://schemas.microsoft.com/office/drawing/2014/main" id="{3CCC1834-CF96-400E-A217-259F062C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Propuesta MINTRONICK · Reglas y datos de ejemplo por validar</a:t>
            </a:r>
          </a:p>
        </p:txBody>
      </p:sp>
      <p:sp>
        <p:nvSpPr>
          <p:cNvPr id="4" name="17">
            <a:extLst xmlns:a="http://schemas.openxmlformats.org/drawingml/2006/main">
              <a:ext uri="{FF2B5EF4-FFF2-40B4-BE49-F238E27FC236}">
                <a16:creationId xmlns:a16="http://schemas.microsoft.com/office/drawing/2014/main" id="{C8A1F976-7E4F-4D7E-81AF-89C02861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Color / etiqueta">
            <a:extLst xmlns:a="http://schemas.openxmlformats.org/drawingml/2006/main">
              <a:ext uri="{FF2B5EF4-FFF2-40B4-BE49-F238E27FC236}">
                <a16:creationId xmlns:a16="http://schemas.microsoft.com/office/drawing/2014/main" id="{D5B5D130-D2C8-4C11-8215-D8FED9AE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Color / etiqueta</a:t>
            </a:r>
          </a:p>
        </p:txBody>
      </p:sp>
      <p:sp>
        <p:nvSpPr>
          <p:cNvPr id="6" name="Significado">
            <a:extLst xmlns:a="http://schemas.openxmlformats.org/drawingml/2006/main">
              <a:ext uri="{FF2B5EF4-FFF2-40B4-BE49-F238E27FC236}">
                <a16:creationId xmlns:a16="http://schemas.microsoft.com/office/drawing/2014/main" id="{EADEE8A5-4C43-4A90-AD69-38A372AA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581150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Significado</a:t>
            </a:r>
          </a:p>
        </p:txBody>
      </p:sp>
      <p:sp>
        <p:nvSpPr>
          <p:cNvPr id="7" name="Uso y acción">
            <a:extLst xmlns:a="http://schemas.openxmlformats.org/drawingml/2006/main">
              <a:ext uri="{FF2B5EF4-FFF2-40B4-BE49-F238E27FC236}">
                <a16:creationId xmlns:a16="http://schemas.microsoft.com/office/drawing/2014/main" id="{CB8AEFA0-9371-4313-9F53-DD6F558F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81150"/>
            <a:ext cx="3990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Uso y acción</a:t>
            </a:r>
          </a:p>
        </p:txBody>
      </p:sp>
      <p:sp>
        <p:nvSpPr>
          <p:cNvPr id="8" name="Verde · Normal">
            <a:extLst xmlns:a="http://schemas.openxmlformats.org/drawingml/2006/main">
              <a:ext uri="{FF2B5EF4-FFF2-40B4-BE49-F238E27FC236}">
                <a16:creationId xmlns:a16="http://schemas.microsoft.com/office/drawing/2014/main" id="{A72C13C8-FB12-4B39-AAB8-7EA59A77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5025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73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734A"/>
                </a:solidFill>
                <a:latin typeface="Arial"/>
                <a:ea typeface="Arial"/>
                <a:cs typeface="Arial"/>
              </a:rPr>
              <a:t>Verde · Normal</a:t>
            </a:r>
          </a:p>
        </p:txBody>
      </p:sp>
      <p:sp>
        <p:nvSpPr>
          <p:cNvPr id="9" name="Dato válido, dentro del rango">
            <a:extLst xmlns:a="http://schemas.openxmlformats.org/drawingml/2006/main">
              <a:ext uri="{FF2B5EF4-FFF2-40B4-BE49-F238E27FC236}">
                <a16:creationId xmlns:a16="http://schemas.microsoft.com/office/drawing/2014/main" id="{5D1086D9-C66B-42E8-8B57-938A7596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05025"/>
            <a:ext cx="38195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Dato válido, dentro del rango</a:t>
            </a:r>
          </a:p>
        </p:txBody>
      </p:sp>
      <p:sp>
        <p:nvSpPr>
          <p:cNvPr id="10" name="Confirmar condición; no equivale a producir">
            <a:extLst xmlns:a="http://schemas.openxmlformats.org/drawingml/2006/main">
              <a:ext uri="{FF2B5EF4-FFF2-40B4-BE49-F238E27FC236}">
                <a16:creationId xmlns:a16="http://schemas.microsoft.com/office/drawing/2014/main" id="{4FDA5C31-22EE-47C0-B16A-BBA12C35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05025"/>
            <a:ext cx="3952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Confirmar condición; no equivale a producir</a:t>
            </a:r>
          </a:p>
        </p:txBody>
      </p:sp>
      <p:sp>
        <p:nvSpPr>
          <p:cNvPr id="11" name="Ámbar · Atención">
            <a:extLst xmlns:a="http://schemas.openxmlformats.org/drawingml/2006/main">
              <a:ext uri="{FF2B5EF4-FFF2-40B4-BE49-F238E27FC236}">
                <a16:creationId xmlns:a16="http://schemas.microsoft.com/office/drawing/2014/main" id="{1C3E98C8-58C1-4DEA-AC2E-F4F5931B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6075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865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86500"/>
                </a:solidFill>
                <a:latin typeface="Arial"/>
                <a:ea typeface="Arial"/>
                <a:cs typeface="Arial"/>
              </a:rPr>
              <a:t>Ámbar · Atención</a:t>
            </a:r>
          </a:p>
        </p:txBody>
      </p:sp>
      <p:sp>
        <p:nvSpPr>
          <p:cNvPr id="12" name="Advertencia o condición por revisar">
            <a:extLst xmlns:a="http://schemas.openxmlformats.org/drawingml/2006/main">
              <a:ext uri="{FF2B5EF4-FFF2-40B4-BE49-F238E27FC236}">
                <a16:creationId xmlns:a16="http://schemas.microsoft.com/office/drawing/2014/main" id="{CF2B8BFD-A222-4F03-9A7D-9D66E72F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86075"/>
            <a:ext cx="38195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Advertencia o condición por revisar</a:t>
            </a:r>
          </a:p>
        </p:txBody>
      </p:sp>
      <p:sp>
        <p:nvSpPr>
          <p:cNvPr id="13" name="Investigar según prioridad definida">
            <a:extLst xmlns:a="http://schemas.openxmlformats.org/drawingml/2006/main">
              <a:ext uri="{FF2B5EF4-FFF2-40B4-BE49-F238E27FC236}">
                <a16:creationId xmlns:a16="http://schemas.microsoft.com/office/drawing/2014/main" id="{B254EB20-CDAA-4BA5-BA74-F566F9CE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886075"/>
            <a:ext cx="3952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Investigar según prioridad definida</a:t>
            </a:r>
          </a:p>
        </p:txBody>
      </p:sp>
      <p:sp>
        <p:nvSpPr>
          <p:cNvPr id="14" name="Rojo · Crítico">
            <a:extLst xmlns:a="http://schemas.openxmlformats.org/drawingml/2006/main">
              <a:ext uri="{FF2B5EF4-FFF2-40B4-BE49-F238E27FC236}">
                <a16:creationId xmlns:a16="http://schemas.microsoft.com/office/drawing/2014/main" id="{11278643-A955-49AD-A99F-5E9844E9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67125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Rojo · Crítico</a:t>
            </a:r>
          </a:p>
        </p:txBody>
      </p:sp>
      <p:sp>
        <p:nvSpPr>
          <p:cNvPr id="15" name="Regla crítica válida incumplida">
            <a:extLst xmlns:a="http://schemas.openxmlformats.org/drawingml/2006/main">
              <a:ext uri="{FF2B5EF4-FFF2-40B4-BE49-F238E27FC236}">
                <a16:creationId xmlns:a16="http://schemas.microsoft.com/office/drawing/2014/main" id="{B6EABBE5-949E-482D-9B26-71B2E969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67125"/>
            <a:ext cx="38195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Regla crítica válida incumplida</a:t>
            </a:r>
          </a:p>
        </p:txBody>
      </p:sp>
      <p:sp>
        <p:nvSpPr>
          <p:cNvPr id="16" name="Resaltar variable y evento afectados">
            <a:extLst xmlns:a="http://schemas.openxmlformats.org/drawingml/2006/main">
              <a:ext uri="{FF2B5EF4-FFF2-40B4-BE49-F238E27FC236}">
                <a16:creationId xmlns:a16="http://schemas.microsoft.com/office/drawing/2014/main" id="{1976A3E3-C937-417A-96E8-2CF8FED1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667125"/>
            <a:ext cx="3952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Resaltar variable y evento afectados</a:t>
            </a:r>
          </a:p>
        </p:txBody>
      </p:sp>
      <p:sp>
        <p:nvSpPr>
          <p:cNvPr id="17" name="Gris · Sin datos">
            <a:extLst xmlns:a="http://schemas.openxmlformats.org/drawingml/2006/main">
              <a:ext uri="{FF2B5EF4-FFF2-40B4-BE49-F238E27FC236}">
                <a16:creationId xmlns:a16="http://schemas.microsoft.com/office/drawing/2014/main" id="{FDAB25E6-E507-4BBB-82DC-92FF352A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48175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Gris · Sin datos</a:t>
            </a:r>
          </a:p>
        </p:txBody>
      </p:sp>
      <p:sp>
        <p:nvSpPr>
          <p:cNvPr id="18" name="Ausencia, invalidez o lectura vencida">
            <a:extLst xmlns:a="http://schemas.openxmlformats.org/drawingml/2006/main">
              <a:ext uri="{FF2B5EF4-FFF2-40B4-BE49-F238E27FC236}">
                <a16:creationId xmlns:a16="http://schemas.microsoft.com/office/drawing/2014/main" id="{3D9A1B0A-E16F-4551-9C66-854F0CB5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48175"/>
            <a:ext cx="38195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Ausencia, invalidez o lectura vencida</a:t>
            </a:r>
          </a:p>
        </p:txBody>
      </p:sp>
      <p:sp>
        <p:nvSpPr>
          <p:cNvPr id="19" name="Mostrar motivo y última lectura válida">
            <a:extLst xmlns:a="http://schemas.openxmlformats.org/drawingml/2006/main">
              <a:ext uri="{FF2B5EF4-FFF2-40B4-BE49-F238E27FC236}">
                <a16:creationId xmlns:a16="http://schemas.microsoft.com/office/drawing/2014/main" id="{79CBDCA3-0D8B-4EBB-9068-4B7E5956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448175"/>
            <a:ext cx="3952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Mostrar motivo y última lectura válida</a:t>
            </a:r>
          </a:p>
        </p:txBody>
      </p:sp>
      <p:sp>
        <p:nvSpPr>
          <p:cNvPr id="20" name="Azul / teal · Información">
            <a:extLst xmlns:a="http://schemas.openxmlformats.org/drawingml/2006/main">
              <a:ext uri="{FF2B5EF4-FFF2-40B4-BE49-F238E27FC236}">
                <a16:creationId xmlns:a16="http://schemas.microsoft.com/office/drawing/2014/main" id="{E79EB0B3-38EC-421A-B46E-EFF3852A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29225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5DB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5DB5"/>
                </a:solidFill>
                <a:latin typeface="Arial"/>
                <a:ea typeface="Arial"/>
                <a:cs typeface="Arial"/>
              </a:rPr>
              <a:t>Azul / teal · Información</a:t>
            </a:r>
          </a:p>
        </p:txBody>
      </p:sp>
      <p:sp>
        <p:nvSpPr>
          <p:cNvPr id="21" name="Serie, selección o navegación">
            <a:extLst xmlns:a="http://schemas.openxmlformats.org/drawingml/2006/main">
              <a:ext uri="{FF2B5EF4-FFF2-40B4-BE49-F238E27FC236}">
                <a16:creationId xmlns:a16="http://schemas.microsoft.com/office/drawing/2014/main" id="{AF3D3BC8-6D8E-4B07-9ECD-6725275A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29225"/>
            <a:ext cx="38195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Serie, selección o navegación</a:t>
            </a:r>
          </a:p>
        </p:txBody>
      </p:sp>
      <p:sp>
        <p:nvSpPr>
          <p:cNvPr id="22" name="No comunica riesgo ni buen desempeño">
            <a:extLst xmlns:a="http://schemas.openxmlformats.org/drawingml/2006/main">
              <a:ext uri="{FF2B5EF4-FFF2-40B4-BE49-F238E27FC236}">
                <a16:creationId xmlns:a16="http://schemas.microsoft.com/office/drawing/2014/main" id="{13D68DA3-0C6C-4B52-BD0A-7DEB2411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229225"/>
            <a:ext cx="3952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No comunica riesgo ni buen desempeño</a:t>
            </a:r>
          </a:p>
        </p:txBody>
      </p:sp>
      <p:sp>
        <p:nvSpPr>
          <p:cNvPr id="23" name="Color + etiqueta + icono. Detenido no significa Crítico.">
            <a:extLst xmlns:a="http://schemas.openxmlformats.org/drawingml/2006/main">
              <a:ext uri="{FF2B5EF4-FFF2-40B4-BE49-F238E27FC236}">
                <a16:creationId xmlns:a16="http://schemas.microsoft.com/office/drawing/2014/main" id="{DBD90F68-11D5-42DC-96EB-ED9A1377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0275"/>
            <a:ext cx="1127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Color + etiqueta + icono. Detenido no significa Crítico.</a:t>
            </a:r>
          </a:p>
        </p:txBody>
      </p:sp>
    </p:spTree>
    <p:extLst>
      <p:ext uri="{BB962C8B-B14F-4D97-AF65-F5344CB8AC3E}">
        <p14:creationId xmlns:p14="http://schemas.microsoft.com/office/powerpoint/2010/main" val="13717041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ROPUESTA">
            <a:extLst xmlns:a="http://schemas.openxmlformats.org/drawingml/2006/main">
              <a:ext uri="{FF2B5EF4-FFF2-40B4-BE49-F238E27FC236}">
                <a16:creationId xmlns:a16="http://schemas.microsoft.com/office/drawing/2014/main" id="{BD7BD0B5-9411-4959-ABFB-C6610AE2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PROPUESTA</a:t>
            </a:r>
          </a:p>
        </p:txBody>
      </p:sp>
      <p:sp>
        <p:nvSpPr>
          <p:cNvPr id="2" name="Velocidad: subir no siempre es peligroso">
            <a:extLst xmlns:a="http://schemas.openxmlformats.org/drawingml/2006/main">
              <a:ext uri="{FF2B5EF4-FFF2-40B4-BE49-F238E27FC236}">
                <a16:creationId xmlns:a16="http://schemas.microsoft.com/office/drawing/2014/main" id="{C7F95E50-3550-4372-92D8-6B0E630D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Velocidad: subir no siempre es peligroso</a:t>
            </a:r>
          </a:p>
        </p:txBody>
      </p:sp>
      <p:sp>
        <p:nvSpPr>
          <p:cNvPr id="3" name="Propuesta MINTRONICK · Reglas y datos de ejemplo por validar">
            <a:extLst xmlns:a="http://schemas.openxmlformats.org/drawingml/2006/main">
              <a:ext uri="{FF2B5EF4-FFF2-40B4-BE49-F238E27FC236}">
                <a16:creationId xmlns:a16="http://schemas.microsoft.com/office/drawing/2014/main" id="{6FA0BD87-AE28-4B3B-AE78-F9AD7A35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Propuesta MINTRONICK · Reglas y datos de ejemplo por validar</a:t>
            </a:r>
          </a:p>
        </p:txBody>
      </p:sp>
      <p:sp>
        <p:nvSpPr>
          <p:cNvPr id="4" name="18">
            <a:extLst xmlns:a="http://schemas.openxmlformats.org/drawingml/2006/main">
              <a:ext uri="{FF2B5EF4-FFF2-40B4-BE49-F238E27FC236}">
                <a16:creationId xmlns:a16="http://schemas.microsoft.com/office/drawing/2014/main" id="{3EC089C3-DF5C-4E94-9051-C78C3779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Dentro del límite">
            <a:extLst xmlns:a="http://schemas.openxmlformats.org/drawingml/2006/main">
              <a:ext uri="{FF2B5EF4-FFF2-40B4-BE49-F238E27FC236}">
                <a16:creationId xmlns:a16="http://schemas.microsoft.com/office/drawing/2014/main" id="{DCAFED1F-ECB7-4DC4-A3B1-57C9E30D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Dentro del límite</a:t>
            </a:r>
          </a:p>
        </p:txBody>
      </p:sp>
      <p:sp>
        <p:nvSpPr>
          <p:cNvPr id="6" name="Ejemplo de zona: 40 km/h.&#10;&#10;Una lectura de 30 km/h puede mostrarse">
            <a:extLst xmlns:a="http://schemas.openxmlformats.org/drawingml/2006/main">
              <a:ext uri="{FF2B5EF4-FFF2-40B4-BE49-F238E27FC236}">
                <a16:creationId xmlns:a16="http://schemas.microsoft.com/office/drawing/2014/main" id="{F9279C33-8713-44E4-9372-A6B87037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Ejemplo de zona: 40 km/h.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Una lectura de 30 km/h puede mostrarse neutral, con el límite visible.</a:t>
            </a:r>
          </a:p>
        </p:txBody>
      </p:sp>
      <p:sp>
        <p:nvSpPr>
          <p:cNvPr id="7" name="Exceso confirmado">
            <a:extLst xmlns:a="http://schemas.openxmlformats.org/drawingml/2006/main">
              <a:ext uri="{FF2B5EF4-FFF2-40B4-BE49-F238E27FC236}">
                <a16:creationId xmlns:a16="http://schemas.microsoft.com/office/drawing/2014/main" id="{1D189706-C193-4D31-8051-01E9B51A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Exceso confirmado</a:t>
            </a:r>
          </a:p>
        </p:txBody>
      </p:sp>
      <p:sp>
        <p:nvSpPr>
          <p:cNvPr id="8" name="Ejemplo: 46 km/h frente a 40 km/h.&#10;&#10;Resaltar +6 km/h y el tramo e">
            <a:extLst xmlns:a="http://schemas.openxmlformats.org/drawingml/2006/main">
              <a:ext uri="{FF2B5EF4-FFF2-40B4-BE49-F238E27FC236}">
                <a16:creationId xmlns:a16="http://schemas.microsoft.com/office/drawing/2014/main" id="{62E5EC9B-3CCB-48B2-84C1-558BB83F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Ejemplo: 46 km/h frente a 40 km/h.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Resaltar +6 km/h y el tramo excedido; registrar inicio y duración.</a:t>
            </a:r>
          </a:p>
        </p:txBody>
      </p:sp>
      <p:sp>
        <p:nvSpPr>
          <p:cNvPr id="9" name="Dato no confiable">
            <a:extLst xmlns:a="http://schemas.openxmlformats.org/drawingml/2006/main">
              <a:ext uri="{FF2B5EF4-FFF2-40B4-BE49-F238E27FC236}">
                <a16:creationId xmlns:a16="http://schemas.microsoft.com/office/drawing/2014/main" id="{DD9BEC90-8D60-4F4E-B6A2-D6AC4B46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Dato no confiable</a:t>
            </a:r>
          </a:p>
        </p:txBody>
      </p:sp>
      <p:sp>
        <p:nvSpPr>
          <p:cNvPr id="10" name="Sin GPS válido, sin regla de zona o señal vencida: no evaluar com">
            <a:extLst xmlns:a="http://schemas.openxmlformats.org/drawingml/2006/main">
              <a:ext uri="{FF2B5EF4-FFF2-40B4-BE49-F238E27FC236}">
                <a16:creationId xmlns:a16="http://schemas.microsoft.com/office/drawing/2014/main" id="{9C6ECDAA-59CD-46DB-98F4-56037FEB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Sin GPS válido, sin regla de zona o señal vencida: no evaluar como normal.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Mostrar “No evaluable” y explicar por qué.</a:t>
            </a:r>
          </a:p>
        </p:txBody>
      </p:sp>
      <p:sp>
        <p:nvSpPr>
          <p:cNvPr id="11" name="Ejemplo ilustrativo. Límite, tolerancia, persistencia y severidad">
            <a:extLst xmlns:a="http://schemas.openxmlformats.org/drawingml/2006/main">
              <a:ext uri="{FF2B5EF4-FFF2-40B4-BE49-F238E27FC236}">
                <a16:creationId xmlns:a16="http://schemas.microsoft.com/office/drawing/2014/main" id="{C7DEA9AA-2717-450A-A0B9-E3DC4078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42318"/>
                </a:solidFill>
                <a:latin typeface="Arial"/>
                <a:ea typeface="Arial"/>
                <a:cs typeface="Arial"/>
              </a:rPr>
              <a:t>Ejemplo ilustrativo. Límite, tolerancia, persistencia y severidad se validan con la operación.</a:t>
            </a:r>
          </a:p>
        </p:txBody>
      </p:sp>
    </p:spTree>
    <p:extLst>
      <p:ext uri="{BB962C8B-B14F-4D97-AF65-F5344CB8AC3E}">
        <p14:creationId xmlns:p14="http://schemas.microsoft.com/office/powerpoint/2010/main" val="109282967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ROPUESTA">
            <a:extLst xmlns:a="http://schemas.openxmlformats.org/drawingml/2006/main">
              <a:ext uri="{FF2B5EF4-FFF2-40B4-BE49-F238E27FC236}">
                <a16:creationId xmlns:a16="http://schemas.microsoft.com/office/drawing/2014/main" id="{25923BB7-1E3C-4225-8AEB-33E726C0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PROPUESTA</a:t>
            </a:r>
          </a:p>
        </p:txBody>
      </p:sp>
      <p:sp>
        <p:nvSpPr>
          <p:cNvPr id="2" name="Las reglas evitan alarmas engañosas">
            <a:extLst xmlns:a="http://schemas.openxmlformats.org/drawingml/2006/main">
              <a:ext uri="{FF2B5EF4-FFF2-40B4-BE49-F238E27FC236}">
                <a16:creationId xmlns:a16="http://schemas.microsoft.com/office/drawing/2014/main" id="{F43F66EC-5BD7-484F-A08C-B1139D7B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Las reglas evitan alarmas engañosas</a:t>
            </a:r>
          </a:p>
        </p:txBody>
      </p:sp>
      <p:sp>
        <p:nvSpPr>
          <p:cNvPr id="3" name="Propuesta MINTRONICK · Reglas y datos de ejemplo por validar">
            <a:extLst xmlns:a="http://schemas.openxmlformats.org/drawingml/2006/main">
              <a:ext uri="{FF2B5EF4-FFF2-40B4-BE49-F238E27FC236}">
                <a16:creationId xmlns:a16="http://schemas.microsoft.com/office/drawing/2014/main" id="{653AA73E-FDFE-4143-A38E-C3A60F78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Propuesta MINTRONICK · Reglas y datos de ejemplo por validar</a:t>
            </a:r>
          </a:p>
        </p:txBody>
      </p:sp>
      <p:sp>
        <p:nvSpPr>
          <p:cNvPr id="4" name="19">
            <a:extLst xmlns:a="http://schemas.openxmlformats.org/drawingml/2006/main">
              <a:ext uri="{FF2B5EF4-FFF2-40B4-BE49-F238E27FC236}">
                <a16:creationId xmlns:a16="http://schemas.microsoft.com/office/drawing/2014/main" id="{4506859F-C146-43FA-9D3D-60BECA0E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Caso">
            <a:extLst xmlns:a="http://schemas.openxmlformats.org/drawingml/2006/main">
              <a:ext uri="{FF2B5EF4-FFF2-40B4-BE49-F238E27FC236}">
                <a16:creationId xmlns:a16="http://schemas.microsoft.com/office/drawing/2014/main" id="{85CFDB3A-45CC-4828-B13D-8064A51F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Caso</a:t>
            </a:r>
          </a:p>
        </p:txBody>
      </p:sp>
      <p:sp>
        <p:nvSpPr>
          <p:cNvPr id="6" name="Regla propuesta">
            <a:extLst xmlns:a="http://schemas.openxmlformats.org/drawingml/2006/main">
              <a:ext uri="{FF2B5EF4-FFF2-40B4-BE49-F238E27FC236}">
                <a16:creationId xmlns:a16="http://schemas.microsoft.com/office/drawing/2014/main" id="{F1E49B86-BD1C-47F9-B939-23578BD9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581150"/>
            <a:ext cx="442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Regla propuesta</a:t>
            </a:r>
          </a:p>
        </p:txBody>
      </p:sp>
      <p:sp>
        <p:nvSpPr>
          <p:cNvPr id="7" name="Razón">
            <a:extLst xmlns:a="http://schemas.openxmlformats.org/drawingml/2006/main">
              <a:ext uri="{FF2B5EF4-FFF2-40B4-BE49-F238E27FC236}">
                <a16:creationId xmlns:a16="http://schemas.microsoft.com/office/drawing/2014/main" id="{CA06AF2E-FF1E-4515-92C2-283E51C9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81150"/>
            <a:ext cx="365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Razón</a:t>
            </a:r>
          </a:p>
        </p:txBody>
      </p:sp>
      <p:sp>
        <p:nvSpPr>
          <p:cNvPr id="8" name="Temperatura">
            <a:extLst xmlns:a="http://schemas.openxmlformats.org/drawingml/2006/main">
              <a:ext uri="{FF2B5EF4-FFF2-40B4-BE49-F238E27FC236}">
                <a16:creationId xmlns:a16="http://schemas.microsoft.com/office/drawing/2014/main" id="{352C6647-C575-4FAE-BFEA-8CC1EED3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5025"/>
            <a:ext cx="25812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Temperatura</a:t>
            </a:r>
          </a:p>
        </p:txBody>
      </p:sp>
      <p:sp>
        <p:nvSpPr>
          <p:cNvPr id="9" name="Rangos por modelo y estado del motor">
            <a:extLst xmlns:a="http://schemas.openxmlformats.org/drawingml/2006/main">
              <a:ext uri="{FF2B5EF4-FFF2-40B4-BE49-F238E27FC236}">
                <a16:creationId xmlns:a16="http://schemas.microsoft.com/office/drawing/2014/main" id="{C13C000B-3224-4BB4-AE8B-0564651C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105025"/>
            <a:ext cx="4391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Rangos por modelo y estado del motor</a:t>
            </a:r>
          </a:p>
        </p:txBody>
      </p:sp>
      <p:sp>
        <p:nvSpPr>
          <p:cNvPr id="10" name="Un umbral universal no es confiable">
            <a:extLst xmlns:a="http://schemas.openxmlformats.org/drawingml/2006/main">
              <a:ext uri="{FF2B5EF4-FFF2-40B4-BE49-F238E27FC236}">
                <a16:creationId xmlns:a16="http://schemas.microsoft.com/office/drawing/2014/main" id="{A934153B-5A2F-4D4A-87A0-75EB728D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05025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Un umbral universal no es confiable</a:t>
            </a:r>
          </a:p>
        </p:txBody>
      </p:sp>
      <p:sp>
        <p:nvSpPr>
          <p:cNvPr id="11" name="Combustible bajo">
            <a:extLst xmlns:a="http://schemas.openxmlformats.org/drawingml/2006/main">
              <a:ext uri="{FF2B5EF4-FFF2-40B4-BE49-F238E27FC236}">
                <a16:creationId xmlns:a16="http://schemas.microsoft.com/office/drawing/2014/main" id="{EB24ED49-C15C-4E8A-A869-55D1B1E7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6075"/>
            <a:ext cx="25812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Combustible bajo</a:t>
            </a:r>
          </a:p>
        </p:txBody>
      </p:sp>
      <p:sp>
        <p:nvSpPr>
          <p:cNvPr id="12" name="Umbral por reserva y plan de operación">
            <a:extLst xmlns:a="http://schemas.openxmlformats.org/drawingml/2006/main">
              <a:ext uri="{FF2B5EF4-FFF2-40B4-BE49-F238E27FC236}">
                <a16:creationId xmlns:a16="http://schemas.microsoft.com/office/drawing/2014/main" id="{EC5FA713-BB36-449B-A665-28046F95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886075"/>
            <a:ext cx="4391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Umbral por reserva y plan de operación</a:t>
            </a:r>
          </a:p>
        </p:txBody>
      </p:sp>
      <p:sp>
        <p:nvSpPr>
          <p:cNvPr id="13" name="Un nivel bajo no siempre es emergencia">
            <a:extLst xmlns:a="http://schemas.openxmlformats.org/drawingml/2006/main">
              <a:ext uri="{FF2B5EF4-FFF2-40B4-BE49-F238E27FC236}">
                <a16:creationId xmlns:a16="http://schemas.microsoft.com/office/drawing/2014/main" id="{87A30833-7966-437F-8E21-EBCBCE90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86075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Un nivel bajo no siempre es emergencia</a:t>
            </a:r>
          </a:p>
        </p:txBody>
      </p:sp>
      <p:sp>
        <p:nvSpPr>
          <p:cNvPr id="14" name="Ralentí prolongado">
            <a:extLst xmlns:a="http://schemas.openxmlformats.org/drawingml/2006/main">
              <a:ext uri="{FF2B5EF4-FFF2-40B4-BE49-F238E27FC236}">
                <a16:creationId xmlns:a16="http://schemas.microsoft.com/office/drawing/2014/main" id="{026FD368-5C5C-4BDC-BA25-6322D540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67125"/>
            <a:ext cx="25812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Ralentí prolongado</a:t>
            </a:r>
          </a:p>
        </p:txBody>
      </p:sp>
      <p:sp>
        <p:nvSpPr>
          <p:cNvPr id="15" name="Motor activo + sin trabajo útil + tiempo">
            <a:extLst xmlns:a="http://schemas.openxmlformats.org/drawingml/2006/main">
              <a:ext uri="{FF2B5EF4-FFF2-40B4-BE49-F238E27FC236}">
                <a16:creationId xmlns:a16="http://schemas.microsoft.com/office/drawing/2014/main" id="{44D00FFF-B962-4D42-8575-E3169690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667125"/>
            <a:ext cx="4391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Motor activo + sin trabajo útil + tiempo</a:t>
            </a:r>
          </a:p>
        </p:txBody>
      </p:sp>
      <p:sp>
        <p:nvSpPr>
          <p:cNvPr id="16" name="GPS en cero también puede ser trabajo">
            <a:extLst xmlns:a="http://schemas.openxmlformats.org/drawingml/2006/main">
              <a:ext uri="{FF2B5EF4-FFF2-40B4-BE49-F238E27FC236}">
                <a16:creationId xmlns:a16="http://schemas.microsoft.com/office/drawing/2014/main" id="{4B60B318-F760-4F72-A142-95762C6D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67125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GPS en cero también puede ser trabajo</a:t>
            </a:r>
          </a:p>
        </p:txBody>
      </p:sp>
      <p:sp>
        <p:nvSpPr>
          <p:cNvPr id="17" name="Activación / cierre">
            <a:extLst xmlns:a="http://schemas.openxmlformats.org/drawingml/2006/main">
              <a:ext uri="{FF2B5EF4-FFF2-40B4-BE49-F238E27FC236}">
                <a16:creationId xmlns:a16="http://schemas.microsoft.com/office/drawing/2014/main" id="{6D0B608D-8D7C-4688-B8BD-2E4B7685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48175"/>
            <a:ext cx="25812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Activación / cierre</a:t>
            </a:r>
          </a:p>
        </p:txBody>
      </p:sp>
      <p:sp>
        <p:nvSpPr>
          <p:cNvPr id="18" name="Persistencia e histéresis configurables">
            <a:extLst xmlns:a="http://schemas.openxmlformats.org/drawingml/2006/main">
              <a:ext uri="{FF2B5EF4-FFF2-40B4-BE49-F238E27FC236}">
                <a16:creationId xmlns:a16="http://schemas.microsoft.com/office/drawing/2014/main" id="{9675EC6E-05F9-473A-A25B-55683A59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448175"/>
            <a:ext cx="4391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Persistencia e histéresis configurables</a:t>
            </a:r>
          </a:p>
        </p:txBody>
      </p:sp>
      <p:sp>
        <p:nvSpPr>
          <p:cNvPr id="19" name="Evitar parpadeo y eventos repetidos">
            <a:extLst xmlns:a="http://schemas.openxmlformats.org/drawingml/2006/main">
              <a:ext uri="{FF2B5EF4-FFF2-40B4-BE49-F238E27FC236}">
                <a16:creationId xmlns:a16="http://schemas.microsoft.com/office/drawing/2014/main" id="{AC53B2F0-47D0-44BF-854A-BCA3F066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48175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Evitar parpadeo y eventos repetidos</a:t>
            </a:r>
          </a:p>
        </p:txBody>
      </p:sp>
      <p:sp>
        <p:nvSpPr>
          <p:cNvPr id="20" name="Falla crítica del fabricante">
            <a:extLst xmlns:a="http://schemas.openxmlformats.org/drawingml/2006/main">
              <a:ext uri="{FF2B5EF4-FFF2-40B4-BE49-F238E27FC236}">
                <a16:creationId xmlns:a16="http://schemas.microsoft.com/office/drawing/2014/main" id="{AD83E9F3-009C-4A18-95FF-465BF034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29225"/>
            <a:ext cx="25812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Falla crítica del fabricante</a:t>
            </a:r>
          </a:p>
        </p:txBody>
      </p:sp>
      <p:sp>
        <p:nvSpPr>
          <p:cNvPr id="21" name="Respetar su prioridad y procedimiento">
            <a:extLst xmlns:a="http://schemas.openxmlformats.org/drawingml/2006/main">
              <a:ext uri="{FF2B5EF4-FFF2-40B4-BE49-F238E27FC236}">
                <a16:creationId xmlns:a16="http://schemas.microsoft.com/office/drawing/2014/main" id="{F83D356E-B04F-470E-94A5-A2E94FBC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229225"/>
            <a:ext cx="4391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Respetar su prioridad y procedimiento</a:t>
            </a:r>
          </a:p>
        </p:txBody>
      </p:sp>
      <p:sp>
        <p:nvSpPr>
          <p:cNvPr id="22" name="No retrasar avisos OEM por filtros propios">
            <a:extLst xmlns:a="http://schemas.openxmlformats.org/drawingml/2006/main">
              <a:ext uri="{FF2B5EF4-FFF2-40B4-BE49-F238E27FC236}">
                <a16:creationId xmlns:a16="http://schemas.microsoft.com/office/drawing/2014/main" id="{0CD1E49F-588C-4B79-BC90-4E8D58A1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29225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No retrasar avisos OEM por filtros propios</a:t>
            </a:r>
          </a:p>
        </p:txBody>
      </p:sp>
    </p:spTree>
    <p:extLst>
      <p:ext uri="{BB962C8B-B14F-4D97-AF65-F5344CB8AC3E}">
        <p14:creationId xmlns:p14="http://schemas.microsoft.com/office/powerpoint/2010/main" val="170196426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ISEÑO CONCEPTUAL">
            <a:extLst xmlns:a="http://schemas.openxmlformats.org/drawingml/2006/main">
              <a:ext uri="{FF2B5EF4-FFF2-40B4-BE49-F238E27FC236}">
                <a16:creationId xmlns:a16="http://schemas.microsoft.com/office/drawing/2014/main" id="{ED8C9B6D-B412-4449-B00E-6F7E025D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DISEÑO CONCEPTUAL</a:t>
            </a:r>
          </a:p>
        </p:txBody>
      </p:sp>
      <p:sp>
        <p:nvSpPr>
          <p:cNvPr id="2" name="Mapa general: ubicar y priorizar">
            <a:extLst xmlns:a="http://schemas.openxmlformats.org/drawingml/2006/main">
              <a:ext uri="{FF2B5EF4-FFF2-40B4-BE49-F238E27FC236}">
                <a16:creationId xmlns:a16="http://schemas.microsoft.com/office/drawing/2014/main" id="{12637022-390E-41A9-9C17-444D0851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Mapa general: ubicar y priorizar</a:t>
            </a:r>
          </a:p>
        </p:txBody>
      </p:sp>
      <p:sp>
        <p:nvSpPr>
          <p:cNvPr id="3" name="Imagen conceptual generada con IA · Datos ilustrativos · No es un">
            <a:extLst xmlns:a="http://schemas.openxmlformats.org/drawingml/2006/main">
              <a:ext uri="{FF2B5EF4-FFF2-40B4-BE49-F238E27FC236}">
                <a16:creationId xmlns:a16="http://schemas.microsoft.com/office/drawing/2014/main" id="{44A3C7FD-1253-4A38-8C45-A5BB4E5B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Imagen conceptual generada con IA · Datos ilustrativos · No es una aplicación funcional</a:t>
            </a:r>
          </a:p>
        </p:txBody>
      </p:sp>
      <p:sp>
        <p:nvSpPr>
          <p:cNvPr id="4" name="20">
            <a:extLst xmlns:a="http://schemas.openxmlformats.org/drawingml/2006/main">
              <a:ext uri="{FF2B5EF4-FFF2-40B4-BE49-F238E27FC236}">
                <a16:creationId xmlns:a16="http://schemas.microsoft.com/office/drawing/2014/main" id="{9125ACDD-7FD4-4E17-A623-42E57A44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cc47723654872"/>
          <a:stretch xmlns:a="http://schemas.openxmlformats.org/drawingml/2006/main"/>
        </p:blipFill>
        <p:spPr>
          <a:xfrm xmlns:a="http://schemas.openxmlformats.org/drawingml/2006/main">
            <a:off x="2118781" y="1428750"/>
            <a:ext cx="7954438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Mapa de flota para contexto global; recorrido individual para inv">
            <a:extLst xmlns:a="http://schemas.openxmlformats.org/drawingml/2006/main">
              <a:ext uri="{FF2B5EF4-FFF2-40B4-BE49-F238E27FC236}">
                <a16:creationId xmlns:a16="http://schemas.microsoft.com/office/drawing/2014/main" id="{95E5416B-AD8D-4EE1-9DC0-11774BA8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1700"/>
            <a:ext cx="1127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2D"/>
                </a:solidFill>
                <a:latin typeface="Arial"/>
                <a:ea typeface="Arial"/>
                <a:cs typeface="Arial"/>
              </a:rPr>
              <a:t>Mapa de flota para contexto global; recorrido individual para investigar un evento.</a:t>
            </a:r>
          </a:p>
        </p:txBody>
      </p:sp>
    </p:spTree>
    <p:extLst>
      <p:ext uri="{BB962C8B-B14F-4D97-AF65-F5344CB8AC3E}">
        <p14:creationId xmlns:p14="http://schemas.microsoft.com/office/powerpoint/2010/main" val="143032880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ROPUESTA">
            <a:extLst xmlns:a="http://schemas.openxmlformats.org/drawingml/2006/main">
              <a:ext uri="{FF2B5EF4-FFF2-40B4-BE49-F238E27FC236}">
                <a16:creationId xmlns:a16="http://schemas.microsoft.com/office/drawing/2014/main" id="{9CE09267-A2DA-44B5-8E61-3859E713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PROPUESTA</a:t>
            </a:r>
          </a:p>
        </p:txBody>
      </p:sp>
      <p:sp>
        <p:nvSpPr>
          <p:cNvPr id="2" name="Dos mapas, dos preguntas distintas">
            <a:extLst xmlns:a="http://schemas.openxmlformats.org/drawingml/2006/main">
              <a:ext uri="{FF2B5EF4-FFF2-40B4-BE49-F238E27FC236}">
                <a16:creationId xmlns:a16="http://schemas.microsoft.com/office/drawing/2014/main" id="{CA9FB998-97BF-4856-925A-98D9E57E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Dos mapas, dos preguntas distintas</a:t>
            </a:r>
          </a:p>
        </p:txBody>
      </p:sp>
      <p:sp>
        <p:nvSpPr>
          <p:cNvPr id="3" name="Propuesta MINTRONICK · Reglas y datos de ejemplo por validar">
            <a:extLst xmlns:a="http://schemas.openxmlformats.org/drawingml/2006/main">
              <a:ext uri="{FF2B5EF4-FFF2-40B4-BE49-F238E27FC236}">
                <a16:creationId xmlns:a16="http://schemas.microsoft.com/office/drawing/2014/main" id="{010497F4-2DA8-4D45-BEC1-BE5A2661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Propuesta MINTRONICK · Reglas y datos de ejemplo por validar</a:t>
            </a:r>
          </a:p>
        </p:txBody>
      </p:sp>
      <p:sp>
        <p:nvSpPr>
          <p:cNvPr id="4" name="21">
            <a:extLst xmlns:a="http://schemas.openxmlformats.org/drawingml/2006/main">
              <a:ext uri="{FF2B5EF4-FFF2-40B4-BE49-F238E27FC236}">
                <a16:creationId xmlns:a16="http://schemas.microsoft.com/office/drawing/2014/main" id="{ABD850C7-A640-410A-9218-B05A06F2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Toda la flota">
            <a:extLst xmlns:a="http://schemas.openxmlformats.org/drawingml/2006/main">
              <a:ext uri="{FF2B5EF4-FFF2-40B4-BE49-F238E27FC236}">
                <a16:creationId xmlns:a16="http://schemas.microsoft.com/office/drawing/2014/main" id="{F729A324-3E40-439A-A7D8-71B36ACE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Toda la flota</a:t>
            </a:r>
          </a:p>
        </p:txBody>
      </p:sp>
      <p:sp>
        <p:nvSpPr>
          <p:cNvPr id="6" name="¿Dónde están mis equipos?&#10;&#10;Geocercas, zonas de carga/descarga y g">
            <a:extLst xmlns:a="http://schemas.openxmlformats.org/drawingml/2006/main">
              <a:ext uri="{FF2B5EF4-FFF2-40B4-BE49-F238E27FC236}">
                <a16:creationId xmlns:a16="http://schemas.microsoft.com/office/drawing/2014/main" id="{09BC2E8B-D055-4536-98DC-62883CF7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¿Dónde están mis equipos?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Geocercas, zonas de carga/descarga y grupos de marcadores. Filtrar por tipo, salud y operación.</a:t>
            </a:r>
          </a:p>
        </p:txBody>
      </p:sp>
      <p:sp>
        <p:nvSpPr>
          <p:cNvPr id="7" name="Un solo equipo">
            <a:extLst xmlns:a="http://schemas.openxmlformats.org/drawingml/2006/main">
              <a:ext uri="{FF2B5EF4-FFF2-40B4-BE49-F238E27FC236}">
                <a16:creationId xmlns:a16="http://schemas.microsoft.com/office/drawing/2014/main" id="{487BA971-3413-486F-A5BD-7F68D70F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Un solo equipo</a:t>
            </a:r>
          </a:p>
        </p:txBody>
      </p:sp>
      <p:sp>
        <p:nvSpPr>
          <p:cNvPr id="8" name="¿Por dónde pasó y dónde ocurrió el evento?&#10;&#10;Recorrido por periodo">
            <a:extLst xmlns:a="http://schemas.openxmlformats.org/drawingml/2006/main">
              <a:ext uri="{FF2B5EF4-FFF2-40B4-BE49-F238E27FC236}">
                <a16:creationId xmlns:a16="http://schemas.microsoft.com/office/drawing/2014/main" id="{1B60A878-DD3F-4144-B28B-7EFD2222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¿Por dónde pasó y dónde ocurrió el evento?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Recorrido por periodo, dirección, paradas y ubicación del evento.</a:t>
            </a:r>
          </a:p>
        </p:txBody>
      </p:sp>
      <p:sp>
        <p:nvSpPr>
          <p:cNvPr id="9" name="Ubicación confiable">
            <a:extLst xmlns:a="http://schemas.openxmlformats.org/drawingml/2006/main">
              <a:ext uri="{FF2B5EF4-FFF2-40B4-BE49-F238E27FC236}">
                <a16:creationId xmlns:a16="http://schemas.microsoft.com/office/drawing/2014/main" id="{7C031A4B-AAD2-4AE1-BF2F-4339F50F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Ubicación confiable</a:t>
            </a:r>
          </a:p>
        </p:txBody>
      </p:sp>
      <p:sp>
        <p:nvSpPr>
          <p:cNvPr id="10" name="GPS válido + antigüedad + precisión disponible.&#10;&#10;Señal vencida: “">
            <a:extLst xmlns:a="http://schemas.openxmlformats.org/drawingml/2006/main">
              <a:ext uri="{FF2B5EF4-FFF2-40B4-BE49-F238E27FC236}">
                <a16:creationId xmlns:a16="http://schemas.microsoft.com/office/drawing/2014/main" id="{4525C546-5282-4F31-A1D6-E6DE3DC4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GPS válido + antigüedad + precisión disponible.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Señal vencida: “última posición conocida”. No simular movimiento entre puntos.</a:t>
            </a:r>
          </a:p>
        </p:txBody>
      </p:sp>
      <p:sp>
        <p:nvSpPr>
          <p:cNvPr id="11" name="No es un sistema de prevención de colisiones: no sustituye soluci">
            <a:extLst xmlns:a="http://schemas.openxmlformats.org/drawingml/2006/main">
              <a:ext uri="{FF2B5EF4-FFF2-40B4-BE49-F238E27FC236}">
                <a16:creationId xmlns:a16="http://schemas.microsoft.com/office/drawing/2014/main" id="{677D34C3-91E2-4D69-B2D9-C7A9C5C1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No es un sistema de prevención de colisiones: no sustituye soluciones de seguridad certificadas.</a:t>
            </a:r>
          </a:p>
        </p:txBody>
      </p:sp>
    </p:spTree>
    <p:extLst>
      <p:ext uri="{BB962C8B-B14F-4D97-AF65-F5344CB8AC3E}">
        <p14:creationId xmlns:p14="http://schemas.microsoft.com/office/powerpoint/2010/main" val="73912402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ISEÑO CONCEPTUAL">
            <a:extLst xmlns:a="http://schemas.openxmlformats.org/drawingml/2006/main">
              <a:ext uri="{FF2B5EF4-FFF2-40B4-BE49-F238E27FC236}">
                <a16:creationId xmlns:a16="http://schemas.microsoft.com/office/drawing/2014/main" id="{0574905A-70B2-45FD-9822-CAEF64D2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DISEÑO CONCEPTUAL</a:t>
            </a:r>
          </a:p>
        </p:txBody>
      </p:sp>
      <p:sp>
        <p:nvSpPr>
          <p:cNvPr id="2" name="Historial: explicar lo que ocurrió">
            <a:extLst xmlns:a="http://schemas.openxmlformats.org/drawingml/2006/main">
              <a:ext uri="{FF2B5EF4-FFF2-40B4-BE49-F238E27FC236}">
                <a16:creationId xmlns:a16="http://schemas.microsoft.com/office/drawing/2014/main" id="{1622FEFF-41FC-42F7-974E-43A1CB60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Historial: explicar lo que ocurrió</a:t>
            </a:r>
          </a:p>
        </p:txBody>
      </p:sp>
      <p:sp>
        <p:nvSpPr>
          <p:cNvPr id="3" name="Imagen conceptual generada con IA · Datos ilustrativos · No es un">
            <a:extLst xmlns:a="http://schemas.openxmlformats.org/drawingml/2006/main">
              <a:ext uri="{FF2B5EF4-FFF2-40B4-BE49-F238E27FC236}">
                <a16:creationId xmlns:a16="http://schemas.microsoft.com/office/drawing/2014/main" id="{464F4750-BEB8-465B-868E-7633D00F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Imagen conceptual generada con IA · Datos ilustrativos · No es una aplicación funcional</a:t>
            </a:r>
          </a:p>
        </p:txBody>
      </p:sp>
      <p:sp>
        <p:nvSpPr>
          <p:cNvPr id="4" name="22">
            <a:extLst xmlns:a="http://schemas.openxmlformats.org/drawingml/2006/main">
              <a:ext uri="{FF2B5EF4-FFF2-40B4-BE49-F238E27FC236}">
                <a16:creationId xmlns:a16="http://schemas.microsoft.com/office/drawing/2014/main" id="{F0D204F8-EA74-4EEA-A858-01380B49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24b61e2314d4a"/>
          <a:stretch xmlns:a="http://schemas.openxmlformats.org/drawingml/2006/main"/>
        </p:blipFill>
        <p:spPr>
          <a:xfrm xmlns:a="http://schemas.openxmlformats.org/drawingml/2006/main">
            <a:off x="2118781" y="1428750"/>
            <a:ext cx="7954438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Desde un evento se abre su tendencia y ubicación, conservando equ">
            <a:extLst xmlns:a="http://schemas.openxmlformats.org/drawingml/2006/main">
              <a:ext uri="{FF2B5EF4-FFF2-40B4-BE49-F238E27FC236}">
                <a16:creationId xmlns:a16="http://schemas.microsoft.com/office/drawing/2014/main" id="{7EB6D8AE-9E97-4D76-B52E-4DE3C5ED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1700"/>
            <a:ext cx="1127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2D"/>
                </a:solidFill>
                <a:latin typeface="Arial"/>
                <a:ea typeface="Arial"/>
                <a:cs typeface="Arial"/>
              </a:rPr>
              <a:t>Desde un evento se abre su tendencia y ubicación, conservando equipo y periodo.</a:t>
            </a:r>
          </a:p>
        </p:txBody>
      </p:sp>
    </p:spTree>
    <p:extLst>
      <p:ext uri="{BB962C8B-B14F-4D97-AF65-F5344CB8AC3E}">
        <p14:creationId xmlns:p14="http://schemas.microsoft.com/office/powerpoint/2010/main" val="157101959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ROPUESTA">
            <a:extLst xmlns:a="http://schemas.openxmlformats.org/drawingml/2006/main">
              <a:ext uri="{FF2B5EF4-FFF2-40B4-BE49-F238E27FC236}">
                <a16:creationId xmlns:a16="http://schemas.microsoft.com/office/drawing/2014/main" id="{4178F9DF-C74A-4FBC-AC23-C296B66B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PROPUESTA</a:t>
            </a:r>
          </a:p>
        </p:txBody>
      </p:sp>
      <p:sp>
        <p:nvSpPr>
          <p:cNvPr id="2" name="Elegir el gráfico según la pregunta">
            <a:extLst xmlns:a="http://schemas.openxmlformats.org/drawingml/2006/main">
              <a:ext uri="{FF2B5EF4-FFF2-40B4-BE49-F238E27FC236}">
                <a16:creationId xmlns:a16="http://schemas.microsoft.com/office/drawing/2014/main" id="{2F6D9E26-D334-4FC0-8337-E7671A22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Elegir el gráfico según la pregunta</a:t>
            </a:r>
          </a:p>
        </p:txBody>
      </p:sp>
      <p:sp>
        <p:nvSpPr>
          <p:cNvPr id="3" name="Propuesta MINTRONICK · Reglas y datos de ejemplo por validar">
            <a:extLst xmlns:a="http://schemas.openxmlformats.org/drawingml/2006/main">
              <a:ext uri="{FF2B5EF4-FFF2-40B4-BE49-F238E27FC236}">
                <a16:creationId xmlns:a16="http://schemas.microsoft.com/office/drawing/2014/main" id="{9760F605-1EFF-41BF-9ACC-942FB18F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Propuesta MINTRONICK · Reglas y datos de ejemplo por validar</a:t>
            </a:r>
          </a:p>
        </p:txBody>
      </p:sp>
      <p:sp>
        <p:nvSpPr>
          <p:cNvPr id="4" name="23">
            <a:extLst xmlns:a="http://schemas.openxmlformats.org/drawingml/2006/main">
              <a:ext uri="{FF2B5EF4-FFF2-40B4-BE49-F238E27FC236}">
                <a16:creationId xmlns:a16="http://schemas.microsoft.com/office/drawing/2014/main" id="{159E1001-177E-4EE0-8133-1CEDDD3C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Pregunta">
            <a:extLst xmlns:a="http://schemas.openxmlformats.org/drawingml/2006/main">
              <a:ext uri="{FF2B5EF4-FFF2-40B4-BE49-F238E27FC236}">
                <a16:creationId xmlns:a16="http://schemas.microsoft.com/office/drawing/2014/main" id="{5A83E214-F843-4C0E-9B71-3CDC7342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Pregunta</a:t>
            </a:r>
          </a:p>
        </p:txBody>
      </p:sp>
      <p:sp>
        <p:nvSpPr>
          <p:cNvPr id="6" name="Gráfico recomendado">
            <a:extLst xmlns:a="http://schemas.openxmlformats.org/drawingml/2006/main">
              <a:ext uri="{FF2B5EF4-FFF2-40B4-BE49-F238E27FC236}">
                <a16:creationId xmlns:a16="http://schemas.microsoft.com/office/drawing/2014/main" id="{325626D2-37AB-40D8-BD26-5CB481F1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5811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Gráfico recomendado</a:t>
            </a:r>
          </a:p>
        </p:txBody>
      </p:sp>
      <p:sp>
        <p:nvSpPr>
          <p:cNvPr id="7" name="Qué evitar">
            <a:extLst xmlns:a="http://schemas.openxmlformats.org/drawingml/2006/main">
              <a:ext uri="{FF2B5EF4-FFF2-40B4-BE49-F238E27FC236}">
                <a16:creationId xmlns:a16="http://schemas.microsoft.com/office/drawing/2014/main" id="{A194B6DF-0FF8-4805-BDF7-258BC192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581150"/>
            <a:ext cx="3609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Qué evitar</a:t>
            </a:r>
          </a:p>
        </p:txBody>
      </p:sp>
      <p:sp>
        <p:nvSpPr>
          <p:cNvPr id="8" name="¿Cuándo cambió?">
            <a:extLst xmlns:a="http://schemas.openxmlformats.org/drawingml/2006/main">
              <a:ext uri="{FF2B5EF4-FFF2-40B4-BE49-F238E27FC236}">
                <a16:creationId xmlns:a16="http://schemas.microsoft.com/office/drawing/2014/main" id="{23B09308-2FA2-434C-8D83-6E6345DB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5025"/>
            <a:ext cx="3248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¿Cuándo cambió?</a:t>
            </a:r>
          </a:p>
        </p:txBody>
      </p:sp>
      <p:sp>
        <p:nvSpPr>
          <p:cNvPr id="9" name="Línea temporal + límites + eventos">
            <a:extLst xmlns:a="http://schemas.openxmlformats.org/drawingml/2006/main">
              <a:ext uri="{FF2B5EF4-FFF2-40B4-BE49-F238E27FC236}">
                <a16:creationId xmlns:a16="http://schemas.microsoft.com/office/drawing/2014/main" id="{13D54B95-C164-48FA-A3EF-E5CCFE79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105025"/>
            <a:ext cx="3771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Línea temporal + límites + eventos</a:t>
            </a:r>
          </a:p>
        </p:txBody>
      </p:sp>
      <p:sp>
        <p:nvSpPr>
          <p:cNvPr id="10" name="Mezclar °C y kPa en un solo eje">
            <a:extLst xmlns:a="http://schemas.openxmlformats.org/drawingml/2006/main">
              <a:ext uri="{FF2B5EF4-FFF2-40B4-BE49-F238E27FC236}">
                <a16:creationId xmlns:a16="http://schemas.microsoft.com/office/drawing/2014/main" id="{512AC1B1-716D-4B36-86B8-D81C682B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105025"/>
            <a:ext cx="3571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Mezclar °C y kPa en un solo eje</a:t>
            </a:r>
          </a:p>
        </p:txBody>
      </p:sp>
      <p:sp>
        <p:nvSpPr>
          <p:cNvPr id="11" name="¿Cómo se usó el turno?">
            <a:extLst xmlns:a="http://schemas.openxmlformats.org/drawingml/2006/main">
              <a:ext uri="{FF2B5EF4-FFF2-40B4-BE49-F238E27FC236}">
                <a16:creationId xmlns:a16="http://schemas.microsoft.com/office/drawing/2014/main" id="{BBA49958-2E95-4767-A1C5-04B61F5D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6075"/>
            <a:ext cx="3248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¿Cómo se usó el turno?</a:t>
            </a:r>
          </a:p>
        </p:txBody>
      </p:sp>
      <p:sp>
        <p:nvSpPr>
          <p:cNvPr id="12" name="Barras de tiempo por estado">
            <a:extLst xmlns:a="http://schemas.openxmlformats.org/drawingml/2006/main">
              <a:ext uri="{FF2B5EF4-FFF2-40B4-BE49-F238E27FC236}">
                <a16:creationId xmlns:a16="http://schemas.microsoft.com/office/drawing/2014/main" id="{93934ACA-E7C5-4AD6-AC41-3533B031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886075"/>
            <a:ext cx="3771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Barras de tiempo por estado</a:t>
            </a:r>
          </a:p>
        </p:txBody>
      </p:sp>
      <p:sp>
        <p:nvSpPr>
          <p:cNvPr id="13" name="Inferir productividad solo de RPM">
            <a:extLst xmlns:a="http://schemas.openxmlformats.org/drawingml/2006/main">
              <a:ext uri="{FF2B5EF4-FFF2-40B4-BE49-F238E27FC236}">
                <a16:creationId xmlns:a16="http://schemas.microsoft.com/office/drawing/2014/main" id="{E0C667D1-3811-41F2-BBDF-F06480F7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886075"/>
            <a:ext cx="3571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Inferir productividad solo de RPM</a:t>
            </a:r>
          </a:p>
        </p:txBody>
      </p:sp>
      <p:sp>
        <p:nvSpPr>
          <p:cNvPr id="14" name="¿Dónde se pierde más tiempo?">
            <a:extLst xmlns:a="http://schemas.openxmlformats.org/drawingml/2006/main">
              <a:ext uri="{FF2B5EF4-FFF2-40B4-BE49-F238E27FC236}">
                <a16:creationId xmlns:a16="http://schemas.microsoft.com/office/drawing/2014/main" id="{DEB29D8B-9D8B-49C5-9275-EBE34A20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67125"/>
            <a:ext cx="3248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¿Dónde se pierde más tiempo?</a:t>
            </a:r>
          </a:p>
        </p:txBody>
      </p:sp>
      <p:sp>
        <p:nvSpPr>
          <p:cNvPr id="15" name="Barras ordenadas por causa / equipo">
            <a:extLst xmlns:a="http://schemas.openxmlformats.org/drawingml/2006/main">
              <a:ext uri="{FF2B5EF4-FFF2-40B4-BE49-F238E27FC236}">
                <a16:creationId xmlns:a16="http://schemas.microsoft.com/office/drawing/2014/main" id="{2D411DFA-47ED-4F74-A983-7A59AC06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667125"/>
            <a:ext cx="3771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Barras ordenadas por causa / equipo</a:t>
            </a:r>
          </a:p>
        </p:txBody>
      </p:sp>
      <p:sp>
        <p:nvSpPr>
          <p:cNvPr id="16" name="Tortas 3D y demasiados colores">
            <a:extLst xmlns:a="http://schemas.openxmlformats.org/drawingml/2006/main">
              <a:ext uri="{FF2B5EF4-FFF2-40B4-BE49-F238E27FC236}">
                <a16:creationId xmlns:a16="http://schemas.microsoft.com/office/drawing/2014/main" id="{BCDD1F17-2DA5-43F8-8089-4F5EC703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667125"/>
            <a:ext cx="3571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Tortas 3D y demasiados colores</a:t>
            </a:r>
          </a:p>
        </p:txBody>
      </p:sp>
      <p:sp>
        <p:nvSpPr>
          <p:cNvPr id="17" name="¿En qué rango operó?">
            <a:extLst xmlns:a="http://schemas.openxmlformats.org/drawingml/2006/main">
              <a:ext uri="{FF2B5EF4-FFF2-40B4-BE49-F238E27FC236}">
                <a16:creationId xmlns:a16="http://schemas.microsoft.com/office/drawing/2014/main" id="{D2CD2265-44CC-47F4-B0DB-BE863CBE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48175"/>
            <a:ext cx="3248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¿En qué rango operó?</a:t>
            </a:r>
          </a:p>
        </p:txBody>
      </p:sp>
      <p:sp>
        <p:nvSpPr>
          <p:cNvPr id="18" name="Histograma con unidad y periodo">
            <a:extLst xmlns:a="http://schemas.openxmlformats.org/drawingml/2006/main">
              <a:ext uri="{FF2B5EF4-FFF2-40B4-BE49-F238E27FC236}">
                <a16:creationId xmlns:a16="http://schemas.microsoft.com/office/drawing/2014/main" id="{05F60EC2-DCB1-4DC0-87D4-064E4E35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448175"/>
            <a:ext cx="3771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Histograma con unidad y periodo</a:t>
            </a:r>
          </a:p>
        </p:txBody>
      </p:sp>
      <p:sp>
        <p:nvSpPr>
          <p:cNvPr id="19" name="Confundir frecuencia con tiempo">
            <a:extLst xmlns:a="http://schemas.openxmlformats.org/drawingml/2006/main">
              <a:ext uri="{FF2B5EF4-FFF2-40B4-BE49-F238E27FC236}">
                <a16:creationId xmlns:a16="http://schemas.microsoft.com/office/drawing/2014/main" id="{F30584D3-CA9D-410F-9593-64DA5A50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448175"/>
            <a:ext cx="3571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Confundir frecuencia con tiempo</a:t>
            </a:r>
          </a:p>
        </p:txBody>
      </p:sp>
      <p:sp>
        <p:nvSpPr>
          <p:cNvPr id="20" name="¿Cómo vamos frente al plan?">
            <a:extLst xmlns:a="http://schemas.openxmlformats.org/drawingml/2006/main">
              <a:ext uri="{FF2B5EF4-FFF2-40B4-BE49-F238E27FC236}">
                <a16:creationId xmlns:a16="http://schemas.microsoft.com/office/drawing/2014/main" id="{CDC1EFEC-E9CF-435A-B017-FC6C1A62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29225"/>
            <a:ext cx="3248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¿Cómo vamos frente al plan?</a:t>
            </a:r>
          </a:p>
        </p:txBody>
      </p:sp>
      <p:sp>
        <p:nvSpPr>
          <p:cNvPr id="21" name="Barras por turno + meta comparable">
            <a:extLst xmlns:a="http://schemas.openxmlformats.org/drawingml/2006/main">
              <a:ext uri="{FF2B5EF4-FFF2-40B4-BE49-F238E27FC236}">
                <a16:creationId xmlns:a16="http://schemas.microsoft.com/office/drawing/2014/main" id="{EA5D9ED2-9F6F-486B-B8D0-26FDD103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229225"/>
            <a:ext cx="3771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Barras por turno + meta comparable</a:t>
            </a:r>
          </a:p>
        </p:txBody>
      </p:sp>
      <p:sp>
        <p:nvSpPr>
          <p:cNvPr id="22" name="Metas sin periodo o flota definidos">
            <a:extLst xmlns:a="http://schemas.openxmlformats.org/drawingml/2006/main">
              <a:ext uri="{FF2B5EF4-FFF2-40B4-BE49-F238E27FC236}">
                <a16:creationId xmlns:a16="http://schemas.microsoft.com/office/drawing/2014/main" id="{CAAA6EFC-6DD2-420B-8950-1FA25716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229225"/>
            <a:ext cx="3571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Metas sin periodo o flota definidos</a:t>
            </a:r>
          </a:p>
        </p:txBody>
      </p:sp>
    </p:spTree>
    <p:extLst>
      <p:ext uri="{BB962C8B-B14F-4D97-AF65-F5344CB8AC3E}">
        <p14:creationId xmlns:p14="http://schemas.microsoft.com/office/powerpoint/2010/main" val="42105288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ROPUESTA">
            <a:extLst xmlns:a="http://schemas.openxmlformats.org/drawingml/2006/main">
              <a:ext uri="{FF2B5EF4-FFF2-40B4-BE49-F238E27FC236}">
                <a16:creationId xmlns:a16="http://schemas.microsoft.com/office/drawing/2014/main" id="{B92E8C3F-C7F1-4873-90C9-3A888A6F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PROPUESTA</a:t>
            </a:r>
          </a:p>
        </p:txBody>
      </p:sp>
      <p:sp>
        <p:nvSpPr>
          <p:cNvPr id="2" name="Alertas: del aviso a la atención">
            <a:extLst xmlns:a="http://schemas.openxmlformats.org/drawingml/2006/main">
              <a:ext uri="{FF2B5EF4-FFF2-40B4-BE49-F238E27FC236}">
                <a16:creationId xmlns:a16="http://schemas.microsoft.com/office/drawing/2014/main" id="{1F04CAFE-29BD-4D49-B78E-FB52447D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Alertas: del aviso a la atención</a:t>
            </a:r>
          </a:p>
        </p:txBody>
      </p:sp>
      <p:sp>
        <p:nvSpPr>
          <p:cNvPr id="3" name="Propuesta MINTRONICK · Reglas y datos de ejemplo por validar">
            <a:extLst xmlns:a="http://schemas.openxmlformats.org/drawingml/2006/main">
              <a:ext uri="{FF2B5EF4-FFF2-40B4-BE49-F238E27FC236}">
                <a16:creationId xmlns:a16="http://schemas.microsoft.com/office/drawing/2014/main" id="{5ABA5A83-0A1B-4366-9BFA-6EE6B245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Propuesta MINTRONICK · Reglas y datos de ejemplo por validar</a:t>
            </a:r>
          </a:p>
        </p:txBody>
      </p:sp>
      <p:sp>
        <p:nvSpPr>
          <p:cNvPr id="4" name="24">
            <a:extLst xmlns:a="http://schemas.openxmlformats.org/drawingml/2006/main">
              <a:ext uri="{FF2B5EF4-FFF2-40B4-BE49-F238E27FC236}">
                <a16:creationId xmlns:a16="http://schemas.microsoft.com/office/drawing/2014/main" id="{8546E695-F2C3-49C1-B784-D0053271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Detectar">
            <a:extLst xmlns:a="http://schemas.openxmlformats.org/drawingml/2006/main">
              <a:ext uri="{FF2B5EF4-FFF2-40B4-BE49-F238E27FC236}">
                <a16:creationId xmlns:a16="http://schemas.microsoft.com/office/drawing/2014/main" id="{99A72C8A-826D-4B06-AAA5-4812C4AA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Detectar</a:t>
            </a:r>
          </a:p>
        </p:txBody>
      </p:sp>
      <p:sp>
        <p:nvSpPr>
          <p:cNvPr id="6" name="Equipo, variable, severidad, inicio, duración y regla aplicada.&#10;&#10;">
            <a:extLst xmlns:a="http://schemas.openxmlformats.org/drawingml/2006/main">
              <a:ext uri="{FF2B5EF4-FFF2-40B4-BE49-F238E27FC236}">
                <a16:creationId xmlns:a16="http://schemas.microsoft.com/office/drawing/2014/main" id="{090E55BB-7675-4A6E-BF70-4DC884D0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Equipo, variable, severidad, inicio, duración y regla aplicada.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Orden: criticidad y tiempo sin atención.</a:t>
            </a:r>
          </a:p>
        </p:txBody>
      </p:sp>
      <p:sp>
        <p:nvSpPr>
          <p:cNvPr id="7" name="Atender">
            <a:extLst xmlns:a="http://schemas.openxmlformats.org/drawingml/2006/main">
              <a:ext uri="{FF2B5EF4-FFF2-40B4-BE49-F238E27FC236}">
                <a16:creationId xmlns:a16="http://schemas.microsoft.com/office/drawing/2014/main" id="{7EC30915-6629-4DED-9415-E5792D4F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Atender</a:t>
            </a:r>
          </a:p>
        </p:txBody>
      </p:sp>
      <p:sp>
        <p:nvSpPr>
          <p:cNvPr id="8" name="Abrir historial y ubicación del evento.&#10;&#10;Asignar responsable, aña">
            <a:extLst xmlns:a="http://schemas.openxmlformats.org/drawingml/2006/main">
              <a:ext uri="{FF2B5EF4-FFF2-40B4-BE49-F238E27FC236}">
                <a16:creationId xmlns:a16="http://schemas.microsoft.com/office/drawing/2014/main" id="{24CB8AAB-DF9A-4938-8F63-958388C5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Abrir historial y ubicación del evento.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Asignar responsable, añadir comentario y reconocer recepción.</a:t>
            </a:r>
          </a:p>
        </p:txBody>
      </p:sp>
      <p:sp>
        <p:nvSpPr>
          <p:cNvPr id="9" name="Cerrar con evidencia">
            <a:extLst xmlns:a="http://schemas.openxmlformats.org/drawingml/2006/main">
              <a:ext uri="{FF2B5EF4-FFF2-40B4-BE49-F238E27FC236}">
                <a16:creationId xmlns:a16="http://schemas.microsoft.com/office/drawing/2014/main" id="{F9F163DC-35FF-4687-9A17-6100AB3B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Cerrar con evidencia</a:t>
            </a:r>
          </a:p>
        </p:txBody>
      </p:sp>
      <p:sp>
        <p:nvSpPr>
          <p:cNvPr id="10" name="Registrar fin de condición, causa y acción.&#10;&#10;“Reconocida” no sign">
            <a:extLst xmlns:a="http://schemas.openxmlformats.org/drawingml/2006/main">
              <a:ext uri="{FF2B5EF4-FFF2-40B4-BE49-F238E27FC236}">
                <a16:creationId xmlns:a16="http://schemas.microsoft.com/office/drawing/2014/main" id="{0EAC0912-9C27-49B0-A908-E95FD362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Registrar fin de condición, causa y acción.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“Reconocida” no significa “resuelta”. Conservar auditoría.</a:t>
            </a:r>
          </a:p>
        </p:txBody>
      </p:sp>
      <p:sp>
        <p:nvSpPr>
          <p:cNvPr id="11" name="Agrupar duplicados; escalar según política. Una pérdida de señal ">
            <a:extLst xmlns:a="http://schemas.openxmlformats.org/drawingml/2006/main">
              <a:ext uri="{FF2B5EF4-FFF2-40B4-BE49-F238E27FC236}">
                <a16:creationId xmlns:a16="http://schemas.microsoft.com/office/drawing/2014/main" id="{F5E23360-A064-47E2-9BCA-DF7BB5EA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24525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87F86"/>
                </a:solidFill>
                <a:latin typeface="Arial"/>
                <a:ea typeface="Arial"/>
                <a:cs typeface="Arial"/>
              </a:rPr>
              <a:t>Agrupar duplicados; escalar según política. Una pérdida de señal no borra la última alerta crítica.</a:t>
            </a:r>
          </a:p>
        </p:txBody>
      </p:sp>
    </p:spTree>
    <p:extLst>
      <p:ext uri="{BB962C8B-B14F-4D97-AF65-F5344CB8AC3E}">
        <p14:creationId xmlns:p14="http://schemas.microsoft.com/office/powerpoint/2010/main" val="204727103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ROPUESTA">
            <a:extLst xmlns:a="http://schemas.openxmlformats.org/drawingml/2006/main">
              <a:ext uri="{FF2B5EF4-FFF2-40B4-BE49-F238E27FC236}">
                <a16:creationId xmlns:a16="http://schemas.microsoft.com/office/drawing/2014/main" id="{2911CE3A-1C40-4905-A302-F575E187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PROPUESTA</a:t>
            </a:r>
          </a:p>
        </p:txBody>
      </p:sp>
      <p:sp>
        <p:nvSpPr>
          <p:cNvPr id="2" name="Mantenimiento: anticipar y coordinar">
            <a:extLst xmlns:a="http://schemas.openxmlformats.org/drawingml/2006/main">
              <a:ext uri="{FF2B5EF4-FFF2-40B4-BE49-F238E27FC236}">
                <a16:creationId xmlns:a16="http://schemas.microsoft.com/office/drawing/2014/main" id="{4145BB42-9704-4178-94FF-932A0685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Mantenimiento: anticipar y coordinar</a:t>
            </a:r>
          </a:p>
        </p:txBody>
      </p:sp>
      <p:sp>
        <p:nvSpPr>
          <p:cNvPr id="3" name="Propuesta MINTRONICK · Reglas y datos de ejemplo por validar">
            <a:extLst xmlns:a="http://schemas.openxmlformats.org/drawingml/2006/main">
              <a:ext uri="{FF2B5EF4-FFF2-40B4-BE49-F238E27FC236}">
                <a16:creationId xmlns:a16="http://schemas.microsoft.com/office/drawing/2014/main" id="{085EB3B9-E0ED-4167-86CE-D42BE09D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Propuesta MINTRONICK · Reglas y datos de ejemplo por validar</a:t>
            </a:r>
          </a:p>
        </p:txBody>
      </p:sp>
      <p:sp>
        <p:nvSpPr>
          <p:cNvPr id="4" name="25">
            <a:extLst xmlns:a="http://schemas.openxmlformats.org/drawingml/2006/main">
              <a:ext uri="{FF2B5EF4-FFF2-40B4-BE49-F238E27FC236}">
                <a16:creationId xmlns:a16="http://schemas.microsoft.com/office/drawing/2014/main" id="{7595F1C8-0E7C-4E47-A15A-973084EA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Mostrar">
            <a:extLst xmlns:a="http://schemas.openxmlformats.org/drawingml/2006/main">
              <a:ext uri="{FF2B5EF4-FFF2-40B4-BE49-F238E27FC236}">
                <a16:creationId xmlns:a16="http://schemas.microsoft.com/office/drawing/2014/main" id="{1F3C72A7-D472-4B1D-9466-F79F1786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62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Mostrar</a:t>
            </a:r>
          </a:p>
        </p:txBody>
      </p:sp>
      <p:sp>
        <p:nvSpPr>
          <p:cNvPr id="6" name="Razón">
            <a:extLst xmlns:a="http://schemas.openxmlformats.org/drawingml/2006/main">
              <a:ext uri="{FF2B5EF4-FFF2-40B4-BE49-F238E27FC236}">
                <a16:creationId xmlns:a16="http://schemas.microsoft.com/office/drawing/2014/main" id="{0F7E956D-5D5F-413B-AE17-0A4BF06C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62125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Razón</a:t>
            </a:r>
          </a:p>
        </p:txBody>
      </p:sp>
      <p:sp>
        <p:nvSpPr>
          <p:cNvPr id="7" name="Dato necesario">
            <a:extLst xmlns:a="http://schemas.openxmlformats.org/drawingml/2006/main">
              <a:ext uri="{FF2B5EF4-FFF2-40B4-BE49-F238E27FC236}">
                <a16:creationId xmlns:a16="http://schemas.microsoft.com/office/drawing/2014/main" id="{39584927-7E86-4BE3-8ACD-711EAFDA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762125"/>
            <a:ext cx="3800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Dato necesario</a:t>
            </a:r>
          </a:p>
        </p:txBody>
      </p:sp>
      <p:sp>
        <p:nvSpPr>
          <p:cNvPr id="8" name="Horas / fecha restantes">
            <a:extLst xmlns:a="http://schemas.openxmlformats.org/drawingml/2006/main">
              <a:ext uri="{FF2B5EF4-FFF2-40B4-BE49-F238E27FC236}">
                <a16:creationId xmlns:a16="http://schemas.microsoft.com/office/drawing/2014/main" id="{B5390125-557B-4060-A02C-F121A9A3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281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Horas / fecha restantes</a:t>
            </a:r>
          </a:p>
        </p:txBody>
      </p:sp>
      <p:sp>
        <p:nvSpPr>
          <p:cNvPr id="9" name="Ordenar servicios antes del vencimiento">
            <a:extLst xmlns:a="http://schemas.openxmlformats.org/drawingml/2006/main">
              <a:ext uri="{FF2B5EF4-FFF2-40B4-BE49-F238E27FC236}">
                <a16:creationId xmlns:a16="http://schemas.microsoft.com/office/drawing/2014/main" id="{B777D171-B817-4398-B780-E856F0C3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86000"/>
            <a:ext cx="40100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Ordenar servicios antes del vencimiento</a:t>
            </a:r>
          </a:p>
        </p:txBody>
      </p:sp>
      <p:sp>
        <p:nvSpPr>
          <p:cNvPr id="10" name="Plan OEM y último servicio confirmado">
            <a:extLst xmlns:a="http://schemas.openxmlformats.org/drawingml/2006/main">
              <a:ext uri="{FF2B5EF4-FFF2-40B4-BE49-F238E27FC236}">
                <a16:creationId xmlns:a16="http://schemas.microsoft.com/office/drawing/2014/main" id="{EA1844A7-ACC5-4E4D-AAFC-5BCDA786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286000"/>
            <a:ext cx="3762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Plan OEM y último servicio confirmado</a:t>
            </a:r>
          </a:p>
        </p:txBody>
      </p:sp>
      <p:sp>
        <p:nvSpPr>
          <p:cNvPr id="11" name="Vencidos y próximos">
            <a:extLst xmlns:a="http://schemas.openxmlformats.org/drawingml/2006/main">
              <a:ext uri="{FF2B5EF4-FFF2-40B4-BE49-F238E27FC236}">
                <a16:creationId xmlns:a16="http://schemas.microsoft.com/office/drawing/2014/main" id="{3D70BB3C-F657-4E18-BE55-B7E5AE54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281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Vencidos y próximos</a:t>
            </a:r>
          </a:p>
        </p:txBody>
      </p:sp>
      <p:sp>
        <p:nvSpPr>
          <p:cNvPr id="12" name="Coordinar personal y repuestos">
            <a:extLst xmlns:a="http://schemas.openxmlformats.org/drawingml/2006/main">
              <a:ext uri="{FF2B5EF4-FFF2-40B4-BE49-F238E27FC236}">
                <a16:creationId xmlns:a16="http://schemas.microsoft.com/office/drawing/2014/main" id="{CB72CF4C-FBF1-4BBA-862D-30B30486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62300"/>
            <a:ext cx="40100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Coordinar personal y repuestos</a:t>
            </a:r>
          </a:p>
        </p:txBody>
      </p:sp>
      <p:sp>
        <p:nvSpPr>
          <p:cNvPr id="13" name="Intervalos por modelo y componente">
            <a:extLst xmlns:a="http://schemas.openxmlformats.org/drawingml/2006/main">
              <a:ext uri="{FF2B5EF4-FFF2-40B4-BE49-F238E27FC236}">
                <a16:creationId xmlns:a16="http://schemas.microsoft.com/office/drawing/2014/main" id="{EE785CBA-A75C-4D96-8931-C58333F6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162300"/>
            <a:ext cx="3762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Intervalos por modelo y componente</a:t>
            </a:r>
          </a:p>
        </p:txBody>
      </p:sp>
      <p:sp>
        <p:nvSpPr>
          <p:cNvPr id="14" name="Historial de intervenciones">
            <a:extLst xmlns:a="http://schemas.openxmlformats.org/drawingml/2006/main">
              <a:ext uri="{FF2B5EF4-FFF2-40B4-BE49-F238E27FC236}">
                <a16:creationId xmlns:a16="http://schemas.microsoft.com/office/drawing/2014/main" id="{C64E0C17-A3B0-4C31-BE56-3EA4508C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281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Historial de intervenciones</a:t>
            </a:r>
          </a:p>
        </p:txBody>
      </p:sp>
      <p:sp>
        <p:nvSpPr>
          <p:cNvPr id="15" name="Entender recurrencia y reparación">
            <a:extLst xmlns:a="http://schemas.openxmlformats.org/drawingml/2006/main">
              <a:ext uri="{FF2B5EF4-FFF2-40B4-BE49-F238E27FC236}">
                <a16:creationId xmlns:a16="http://schemas.microsoft.com/office/drawing/2014/main" id="{76F87F48-2F4D-4CB0-8185-F3EFB0FB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38600"/>
            <a:ext cx="40100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Entender recurrencia y reparación</a:t>
            </a:r>
          </a:p>
        </p:txBody>
      </p:sp>
      <p:sp>
        <p:nvSpPr>
          <p:cNvPr id="16" name="Orden, fecha, evidencia y responsable">
            <a:extLst xmlns:a="http://schemas.openxmlformats.org/drawingml/2006/main">
              <a:ext uri="{FF2B5EF4-FFF2-40B4-BE49-F238E27FC236}">
                <a16:creationId xmlns:a16="http://schemas.microsoft.com/office/drawing/2014/main" id="{4C3A5851-C7E9-48A7-AEC7-BCF4D96C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038600"/>
            <a:ext cx="3762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Orden, fecha, evidencia y responsable</a:t>
            </a:r>
          </a:p>
        </p:txBody>
      </p:sp>
      <p:sp>
        <p:nvSpPr>
          <p:cNvPr id="17" name="Condición del sistema">
            <a:extLst xmlns:a="http://schemas.openxmlformats.org/drawingml/2006/main">
              <a:ext uri="{FF2B5EF4-FFF2-40B4-BE49-F238E27FC236}">
                <a16:creationId xmlns:a16="http://schemas.microsoft.com/office/drawing/2014/main" id="{44BF7C56-E51E-4B9B-A613-16C699F7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14900"/>
            <a:ext cx="281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Condición del sistema</a:t>
            </a:r>
          </a:p>
        </p:txBody>
      </p:sp>
      <p:sp>
        <p:nvSpPr>
          <p:cNvPr id="18" name="Vincular alerta con inspección">
            <a:extLst xmlns:a="http://schemas.openxmlformats.org/drawingml/2006/main">
              <a:ext uri="{FF2B5EF4-FFF2-40B4-BE49-F238E27FC236}">
                <a16:creationId xmlns:a16="http://schemas.microsoft.com/office/drawing/2014/main" id="{04E4B69E-A624-49C4-A3D0-86598FE7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914900"/>
            <a:ext cx="40100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Vincular alerta con inspección</a:t>
            </a:r>
          </a:p>
        </p:txBody>
      </p:sp>
      <p:sp>
        <p:nvSpPr>
          <p:cNvPr id="19" name="Sensores y fallas correctamente mapeados">
            <a:extLst xmlns:a="http://schemas.openxmlformats.org/drawingml/2006/main">
              <a:ext uri="{FF2B5EF4-FFF2-40B4-BE49-F238E27FC236}">
                <a16:creationId xmlns:a16="http://schemas.microsoft.com/office/drawing/2014/main" id="{2817BB6F-2409-4E38-8828-770622B6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914900"/>
            <a:ext cx="3762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Sensores y fallas correctamente mapeados</a:t>
            </a:r>
          </a:p>
        </p:txBody>
      </p:sp>
      <p:sp>
        <p:nvSpPr>
          <p:cNvPr id="20" name="No prometer mantenimiento predictivo sin historial suficiente y u">
            <a:extLst xmlns:a="http://schemas.openxmlformats.org/drawingml/2006/main">
              <a:ext uri="{FF2B5EF4-FFF2-40B4-BE49-F238E27FC236}">
                <a16:creationId xmlns:a16="http://schemas.microsoft.com/office/drawing/2014/main" id="{DC00221B-B9C0-4719-9B4A-960CD396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81675"/>
            <a:ext cx="11277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42318"/>
                </a:solidFill>
                <a:latin typeface="Arial"/>
                <a:ea typeface="Arial"/>
                <a:cs typeface="Arial"/>
              </a:rPr>
              <a:t>No prometer mantenimiento predictivo sin historial suficiente y un modelo validado.</a:t>
            </a:r>
          </a:p>
        </p:txBody>
      </p:sp>
    </p:spTree>
    <p:extLst>
      <p:ext uri="{BB962C8B-B14F-4D97-AF65-F5344CB8AC3E}">
        <p14:creationId xmlns:p14="http://schemas.microsoft.com/office/powerpoint/2010/main" val="64890330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ROPUESTA">
            <a:extLst xmlns:a="http://schemas.openxmlformats.org/drawingml/2006/main">
              <a:ext uri="{FF2B5EF4-FFF2-40B4-BE49-F238E27FC236}">
                <a16:creationId xmlns:a16="http://schemas.microsoft.com/office/drawing/2014/main" id="{6FCC1ED1-B049-4A13-B11A-CE7E14AB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PROPUESTA</a:t>
            </a:r>
          </a:p>
        </p:txBody>
      </p:sp>
      <p:sp>
        <p:nvSpPr>
          <p:cNvPr id="2" name="Reportes que un cliente pueda usar">
            <a:extLst xmlns:a="http://schemas.openxmlformats.org/drawingml/2006/main">
              <a:ext uri="{FF2B5EF4-FFF2-40B4-BE49-F238E27FC236}">
                <a16:creationId xmlns:a16="http://schemas.microsoft.com/office/drawing/2014/main" id="{B0FBC770-0F84-4D89-B073-20E7B29C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Reportes que un cliente pueda usar</a:t>
            </a:r>
          </a:p>
        </p:txBody>
      </p:sp>
      <p:sp>
        <p:nvSpPr>
          <p:cNvPr id="3" name="Propuesta MINTRONICK · Reglas y datos de ejemplo por validar">
            <a:extLst xmlns:a="http://schemas.openxmlformats.org/drawingml/2006/main">
              <a:ext uri="{FF2B5EF4-FFF2-40B4-BE49-F238E27FC236}">
                <a16:creationId xmlns:a16="http://schemas.microsoft.com/office/drawing/2014/main" id="{ED6C9B6F-5AF6-4ACF-842D-A6AED818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Propuesta MINTRONICK · Reglas y datos de ejemplo por validar</a:t>
            </a:r>
          </a:p>
        </p:txBody>
      </p:sp>
      <p:sp>
        <p:nvSpPr>
          <p:cNvPr id="4" name="26">
            <a:extLst xmlns:a="http://schemas.openxmlformats.org/drawingml/2006/main">
              <a:ext uri="{FF2B5EF4-FFF2-40B4-BE49-F238E27FC236}">
                <a16:creationId xmlns:a16="http://schemas.microsoft.com/office/drawing/2014/main" id="{1E3D7F2C-7EE2-4A2E-99F4-4ED73344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Reporte de turno">
            <a:extLst xmlns:a="http://schemas.openxmlformats.org/drawingml/2006/main">
              <a:ext uri="{FF2B5EF4-FFF2-40B4-BE49-F238E27FC236}">
                <a16:creationId xmlns:a16="http://schemas.microsoft.com/office/drawing/2014/main" id="{3FC1A417-36E5-4359-A57C-375E963E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Reporte de turno</a:t>
            </a:r>
          </a:p>
        </p:txBody>
      </p:sp>
      <p:sp>
        <p:nvSpPr>
          <p:cNvPr id="6" name="Equipos considerados, horas de motor, ralentí, eventos y pérdida ">
            <a:extLst xmlns:a="http://schemas.openxmlformats.org/drawingml/2006/main">
              <a:ext uri="{FF2B5EF4-FFF2-40B4-BE49-F238E27FC236}">
                <a16:creationId xmlns:a16="http://schemas.microsoft.com/office/drawing/2014/main" id="{B9F1BED9-2559-49B0-AB45-DFDFB36D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Equipos considerados, horas de motor, ralentí, eventos y pérdida de señal.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Destinatario: supervisor.</a:t>
            </a:r>
          </a:p>
        </p:txBody>
      </p:sp>
      <p:sp>
        <p:nvSpPr>
          <p:cNvPr id="7" name="Reporte semanal">
            <a:extLst xmlns:a="http://schemas.openxmlformats.org/drawingml/2006/main">
              <a:ext uri="{FF2B5EF4-FFF2-40B4-BE49-F238E27FC236}">
                <a16:creationId xmlns:a16="http://schemas.microsoft.com/office/drawing/2014/main" id="{01F6CA06-DCFC-476A-967C-37E80FA7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Reporte semanal</a:t>
            </a:r>
          </a:p>
        </p:txBody>
      </p:sp>
      <p:sp>
        <p:nvSpPr>
          <p:cNvPr id="8" name="Tendencias, equipos a revisar, mantenimiento próximo y seguimient">
            <a:extLst xmlns:a="http://schemas.openxmlformats.org/drawingml/2006/main">
              <a:ext uri="{FF2B5EF4-FFF2-40B4-BE49-F238E27FC236}">
                <a16:creationId xmlns:a16="http://schemas.microsoft.com/office/drawing/2014/main" id="{45723A95-1926-49A8-AD77-18880153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Tendencias, equipos a revisar, mantenimiento próximo y seguimiento.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Destinatario: jefe de mantenimiento.</a:t>
            </a:r>
          </a:p>
        </p:txBody>
      </p:sp>
      <p:sp>
        <p:nvSpPr>
          <p:cNvPr id="9" name="Reporte mensual">
            <a:extLst xmlns:a="http://schemas.openxmlformats.org/drawingml/2006/main">
              <a:ext uri="{FF2B5EF4-FFF2-40B4-BE49-F238E27FC236}">
                <a16:creationId xmlns:a16="http://schemas.microsoft.com/office/drawing/2014/main" id="{C745DBB4-2BC6-4450-B4F4-430F3F28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Reporte mensual</a:t>
            </a:r>
          </a:p>
        </p:txBody>
      </p:sp>
      <p:sp>
        <p:nvSpPr>
          <p:cNvPr id="10" name="Comparación de periodos equivalentes, disponibilidad validada y a">
            <a:extLst xmlns:a="http://schemas.openxmlformats.org/drawingml/2006/main">
              <a:ext uri="{FF2B5EF4-FFF2-40B4-BE49-F238E27FC236}">
                <a16:creationId xmlns:a16="http://schemas.microsoft.com/office/drawing/2014/main" id="{CD823A8D-DC81-4F30-8610-2C271661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Comparación de periodos equivalentes, disponibilidad validada y acciones.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Destinatario: cliente / gerencia.</a:t>
            </a:r>
          </a:p>
        </p:txBody>
      </p:sp>
      <p:sp>
        <p:nvSpPr>
          <p:cNvPr id="11" name="PDF para lectura; CSV para análisis. Incluir filtros, zona horari">
            <a:extLst xmlns:a="http://schemas.openxmlformats.org/drawingml/2006/main">
              <a:ext uri="{FF2B5EF4-FFF2-40B4-BE49-F238E27FC236}">
                <a16:creationId xmlns:a16="http://schemas.microsoft.com/office/drawing/2014/main" id="{1D34A2D4-603E-4A04-9A14-CD900547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87F86"/>
                </a:solidFill>
                <a:latin typeface="Arial"/>
                <a:ea typeface="Arial"/>
                <a:cs typeface="Arial"/>
              </a:rPr>
              <a:t>PDF para lectura; CSV para análisis. Incluir filtros, zona horaria, cobertura, fórmulas y fecha de corte.</a:t>
            </a:r>
          </a:p>
        </p:txBody>
      </p:sp>
    </p:spTree>
    <p:extLst>
      <p:ext uri="{BB962C8B-B14F-4D97-AF65-F5344CB8AC3E}">
        <p14:creationId xmlns:p14="http://schemas.microsoft.com/office/powerpoint/2010/main" val="175847920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ROPUESTA">
            <a:extLst xmlns:a="http://schemas.openxmlformats.org/drawingml/2006/main">
              <a:ext uri="{FF2B5EF4-FFF2-40B4-BE49-F238E27FC236}">
                <a16:creationId xmlns:a16="http://schemas.microsoft.com/office/drawing/2014/main" id="{C55AB081-3EC9-42B1-9697-8955D715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PROPUESTA</a:t>
            </a:r>
          </a:p>
        </p:txBody>
      </p:sp>
      <p:sp>
        <p:nvSpPr>
          <p:cNvPr id="2" name="Definir los KPI antes de publicarlos">
            <a:extLst xmlns:a="http://schemas.openxmlformats.org/drawingml/2006/main">
              <a:ext uri="{FF2B5EF4-FFF2-40B4-BE49-F238E27FC236}">
                <a16:creationId xmlns:a16="http://schemas.microsoft.com/office/drawing/2014/main" id="{7D3740B8-C6F0-404C-AAE5-D507C854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Definir los KPI antes de publicarlos</a:t>
            </a:r>
          </a:p>
        </p:txBody>
      </p:sp>
      <p:sp>
        <p:nvSpPr>
          <p:cNvPr id="3" name="Propuesta MINTRONICK · Reglas y datos de ejemplo por validar">
            <a:extLst xmlns:a="http://schemas.openxmlformats.org/drawingml/2006/main">
              <a:ext uri="{FF2B5EF4-FFF2-40B4-BE49-F238E27FC236}">
                <a16:creationId xmlns:a16="http://schemas.microsoft.com/office/drawing/2014/main" id="{5E22A86D-AA05-4A8C-99A8-B874ED59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Propuesta MINTRONICK · Reglas y datos de ejemplo por validar</a:t>
            </a:r>
          </a:p>
        </p:txBody>
      </p:sp>
      <p:sp>
        <p:nvSpPr>
          <p:cNvPr id="4" name="27">
            <a:extLst xmlns:a="http://schemas.openxmlformats.org/drawingml/2006/main">
              <a:ext uri="{FF2B5EF4-FFF2-40B4-BE49-F238E27FC236}">
                <a16:creationId xmlns:a16="http://schemas.microsoft.com/office/drawing/2014/main" id="{9D63914E-3226-42E8-94D7-FD77E15A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Indicador">
            <a:extLst xmlns:a="http://schemas.openxmlformats.org/drawingml/2006/main">
              <a:ext uri="{FF2B5EF4-FFF2-40B4-BE49-F238E27FC236}">
                <a16:creationId xmlns:a16="http://schemas.microsoft.com/office/drawing/2014/main" id="{1DE6389C-4911-41A4-8CD5-C25C38A5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Indicador</a:t>
            </a:r>
          </a:p>
        </p:txBody>
      </p:sp>
      <p:sp>
        <p:nvSpPr>
          <p:cNvPr id="6" name="Definición propuesta">
            <a:extLst xmlns:a="http://schemas.openxmlformats.org/drawingml/2006/main">
              <a:ext uri="{FF2B5EF4-FFF2-40B4-BE49-F238E27FC236}">
                <a16:creationId xmlns:a16="http://schemas.microsoft.com/office/drawing/2014/main" id="{D0A78B73-6507-4543-B359-72DD920E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81150"/>
            <a:ext cx="452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Definición propuesta</a:t>
            </a:r>
          </a:p>
        </p:txBody>
      </p:sp>
      <p:sp>
        <p:nvSpPr>
          <p:cNvPr id="7" name="Condición para mostrarlo">
            <a:extLst xmlns:a="http://schemas.openxmlformats.org/drawingml/2006/main">
              <a:ext uri="{FF2B5EF4-FFF2-40B4-BE49-F238E27FC236}">
                <a16:creationId xmlns:a16="http://schemas.microsoft.com/office/drawing/2014/main" id="{BCD30DC6-EB65-47FB-A8F8-63D34141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581150"/>
            <a:ext cx="3514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Condición para mostrarlo</a:t>
            </a:r>
          </a:p>
        </p:txBody>
      </p:sp>
      <p:sp>
        <p:nvSpPr>
          <p:cNvPr id="8" name="Ralentí (%)">
            <a:extLst xmlns:a="http://schemas.openxmlformats.org/drawingml/2006/main">
              <a:ext uri="{FF2B5EF4-FFF2-40B4-BE49-F238E27FC236}">
                <a16:creationId xmlns:a16="http://schemas.microsoft.com/office/drawing/2014/main" id="{FCA22E8C-DAC2-4BAE-A3FB-CCC7336F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5025"/>
            <a:ext cx="262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Ralentí (%)</a:t>
            </a:r>
          </a:p>
        </p:txBody>
      </p:sp>
      <p:sp>
        <p:nvSpPr>
          <p:cNvPr id="9" name="Horas en ralentí / horas de motor × 100">
            <a:extLst xmlns:a="http://schemas.openxmlformats.org/drawingml/2006/main">
              <a:ext uri="{FF2B5EF4-FFF2-40B4-BE49-F238E27FC236}">
                <a16:creationId xmlns:a16="http://schemas.microsoft.com/office/drawing/2014/main" id="{24329D0F-43DB-4A36-A19B-426D94D7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05025"/>
            <a:ext cx="44862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Horas en ralentí / horas de motor × 100</a:t>
            </a:r>
          </a:p>
        </p:txBody>
      </p:sp>
      <p:sp>
        <p:nvSpPr>
          <p:cNvPr id="10" name="Clasificación válida; denominador &gt; 0">
            <a:extLst xmlns:a="http://schemas.openxmlformats.org/drawingml/2006/main">
              <a:ext uri="{FF2B5EF4-FFF2-40B4-BE49-F238E27FC236}">
                <a16:creationId xmlns:a16="http://schemas.microsoft.com/office/drawing/2014/main" id="{1A9B122C-F6E9-4BE1-8D3B-2607102E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105025"/>
            <a:ext cx="347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Clasificación válida; denominador &gt; 0</a:t>
            </a:r>
          </a:p>
        </p:txBody>
      </p:sp>
      <p:sp>
        <p:nvSpPr>
          <p:cNvPr id="11" name="Consumo del periodo">
            <a:extLst xmlns:a="http://schemas.openxmlformats.org/drawingml/2006/main">
              <a:ext uri="{FF2B5EF4-FFF2-40B4-BE49-F238E27FC236}">
                <a16:creationId xmlns:a16="http://schemas.microsoft.com/office/drawing/2014/main" id="{EA70C68F-92EF-4E02-8CCD-05E4DF5D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6075"/>
            <a:ext cx="262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Consumo del periodo</a:t>
            </a:r>
          </a:p>
        </p:txBody>
      </p:sp>
      <p:sp>
        <p:nvSpPr>
          <p:cNvPr id="12" name="Diferencia del contador acumulado (L)">
            <a:extLst xmlns:a="http://schemas.openxmlformats.org/drawingml/2006/main">
              <a:ext uri="{FF2B5EF4-FFF2-40B4-BE49-F238E27FC236}">
                <a16:creationId xmlns:a16="http://schemas.microsoft.com/office/drawing/2014/main" id="{1FDE90DF-CA94-4A2F-B623-DF2B4719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86075"/>
            <a:ext cx="44862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Diferencia del contador acumulado (L)</a:t>
            </a:r>
          </a:p>
        </p:txBody>
      </p:sp>
      <p:sp>
        <p:nvSpPr>
          <p:cNvPr id="13" name="Tratar reinicios, vacíos y desbordes">
            <a:extLst xmlns:a="http://schemas.openxmlformats.org/drawingml/2006/main">
              <a:ext uri="{FF2B5EF4-FFF2-40B4-BE49-F238E27FC236}">
                <a16:creationId xmlns:a16="http://schemas.microsoft.com/office/drawing/2014/main" id="{B80EF278-B44A-42AE-B5B2-C95ABCF7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886075"/>
            <a:ext cx="347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Tratar reinicios, vacíos y desbordes</a:t>
            </a:r>
          </a:p>
        </p:txBody>
      </p:sp>
      <p:sp>
        <p:nvSpPr>
          <p:cNvPr id="14" name="Utilización (%)">
            <a:extLst xmlns:a="http://schemas.openxmlformats.org/drawingml/2006/main">
              <a:ext uri="{FF2B5EF4-FFF2-40B4-BE49-F238E27FC236}">
                <a16:creationId xmlns:a16="http://schemas.microsoft.com/office/drawing/2014/main" id="{154821F6-CFE5-44AA-86F7-F9C6B9C3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67125"/>
            <a:ext cx="262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Utilización (%)</a:t>
            </a:r>
          </a:p>
        </p:txBody>
      </p:sp>
      <p:sp>
        <p:nvSpPr>
          <p:cNvPr id="15" name="Horas operando / horas disponibles × 100">
            <a:extLst xmlns:a="http://schemas.openxmlformats.org/drawingml/2006/main">
              <a:ext uri="{FF2B5EF4-FFF2-40B4-BE49-F238E27FC236}">
                <a16:creationId xmlns:a16="http://schemas.microsoft.com/office/drawing/2014/main" id="{BF7C3235-195A-4A78-B784-39F0CE5E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67125"/>
            <a:ext cx="44862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Horas operando / horas disponibles × 100</a:t>
            </a:r>
          </a:p>
        </p:txBody>
      </p:sp>
      <p:sp>
        <p:nvSpPr>
          <p:cNvPr id="16" name="Acordar estados y horas disponibles">
            <a:extLst xmlns:a="http://schemas.openxmlformats.org/drawingml/2006/main">
              <a:ext uri="{FF2B5EF4-FFF2-40B4-BE49-F238E27FC236}">
                <a16:creationId xmlns:a16="http://schemas.microsoft.com/office/drawing/2014/main" id="{049D57AE-CBE7-4DCD-B3D1-D13EC0DA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667125"/>
            <a:ext cx="347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Acordar estados y horas disponibles</a:t>
            </a:r>
          </a:p>
        </p:txBody>
      </p:sp>
      <p:sp>
        <p:nvSpPr>
          <p:cNvPr id="17" name="Disponibilidad (%)">
            <a:extLst xmlns:a="http://schemas.openxmlformats.org/drawingml/2006/main">
              <a:ext uri="{FF2B5EF4-FFF2-40B4-BE49-F238E27FC236}">
                <a16:creationId xmlns:a16="http://schemas.microsoft.com/office/drawing/2014/main" id="{76CB8DE5-A771-44BF-8F85-98023D64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48175"/>
            <a:ext cx="262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Disponibilidad (%)</a:t>
            </a:r>
          </a:p>
        </p:txBody>
      </p:sp>
      <p:sp>
        <p:nvSpPr>
          <p:cNvPr id="18" name="Horas disponibles / programadas × 100">
            <a:extLst xmlns:a="http://schemas.openxmlformats.org/drawingml/2006/main">
              <a:ext uri="{FF2B5EF4-FFF2-40B4-BE49-F238E27FC236}">
                <a16:creationId xmlns:a16="http://schemas.microsoft.com/office/drawing/2014/main" id="{BF1F0D60-4D31-4D63-9ADD-0DAC5DD0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48175"/>
            <a:ext cx="44862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Horas disponibles / programadas × 100</a:t>
            </a:r>
          </a:p>
        </p:txBody>
      </p:sp>
      <p:sp>
        <p:nvSpPr>
          <p:cNvPr id="19" name="Plan de turnos y paradas registradas">
            <a:extLst xmlns:a="http://schemas.openxmlformats.org/drawingml/2006/main">
              <a:ext uri="{FF2B5EF4-FFF2-40B4-BE49-F238E27FC236}">
                <a16:creationId xmlns:a16="http://schemas.microsoft.com/office/drawing/2014/main" id="{122B7114-F457-423F-80E9-F27A4586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448175"/>
            <a:ext cx="347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Plan de turnos y paradas registradas</a:t>
            </a:r>
          </a:p>
        </p:txBody>
      </p:sp>
      <p:sp>
        <p:nvSpPr>
          <p:cNvPr id="20" name="Cobertura (%)">
            <a:extLst xmlns:a="http://schemas.openxmlformats.org/drawingml/2006/main">
              <a:ext uri="{FF2B5EF4-FFF2-40B4-BE49-F238E27FC236}">
                <a16:creationId xmlns:a16="http://schemas.microsoft.com/office/drawing/2014/main" id="{337C60DC-5292-4A81-A841-87267AB2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29225"/>
            <a:ext cx="262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Cobertura (%)</a:t>
            </a:r>
          </a:p>
        </p:txBody>
      </p:sp>
      <p:sp>
        <p:nvSpPr>
          <p:cNvPr id="21" name="Tiempo con datos válidos / esperado × 100">
            <a:extLst xmlns:a="http://schemas.openxmlformats.org/drawingml/2006/main">
              <a:ext uri="{FF2B5EF4-FFF2-40B4-BE49-F238E27FC236}">
                <a16:creationId xmlns:a16="http://schemas.microsoft.com/office/drawing/2014/main" id="{2827BA24-D744-4E55-A3B2-574244D0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29225"/>
            <a:ext cx="44862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Tiempo con datos válidos / esperado × 100</a:t>
            </a:r>
          </a:p>
        </p:txBody>
      </p:sp>
      <p:sp>
        <p:nvSpPr>
          <p:cNvPr id="22" name="Cadencia y ventana definidas por señal">
            <a:extLst xmlns:a="http://schemas.openxmlformats.org/drawingml/2006/main">
              <a:ext uri="{FF2B5EF4-FFF2-40B4-BE49-F238E27FC236}">
                <a16:creationId xmlns:a16="http://schemas.microsoft.com/office/drawing/2014/main" id="{1818E6AF-091F-4FFE-85DD-F866848C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229225"/>
            <a:ext cx="347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Cadencia y ventana definidas por señal</a:t>
            </a:r>
          </a:p>
        </p:txBody>
      </p:sp>
    </p:spTree>
    <p:extLst>
      <p:ext uri="{BB962C8B-B14F-4D97-AF65-F5344CB8AC3E}">
        <p14:creationId xmlns:p14="http://schemas.microsoft.com/office/powerpoint/2010/main" val="114274152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ROPUESTA">
            <a:extLst xmlns:a="http://schemas.openxmlformats.org/drawingml/2006/main">
              <a:ext uri="{FF2B5EF4-FFF2-40B4-BE49-F238E27FC236}">
                <a16:creationId xmlns:a16="http://schemas.microsoft.com/office/drawing/2014/main" id="{B7316ACD-BA1C-459C-A515-983797AC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PROPUESTA</a:t>
            </a:r>
          </a:p>
        </p:txBody>
      </p:sp>
      <p:sp>
        <p:nvSpPr>
          <p:cNvPr id="2" name="Calidad de datos: parte del producto">
            <a:extLst xmlns:a="http://schemas.openxmlformats.org/drawingml/2006/main">
              <a:ext uri="{FF2B5EF4-FFF2-40B4-BE49-F238E27FC236}">
                <a16:creationId xmlns:a16="http://schemas.microsoft.com/office/drawing/2014/main" id="{E38D038D-CAE7-46BD-AF81-F3538C99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Calidad de datos: parte del producto</a:t>
            </a:r>
          </a:p>
        </p:txBody>
      </p:sp>
      <p:sp>
        <p:nvSpPr>
          <p:cNvPr id="3" name="Propuesta MINTRONICK · Reglas y datos de ejemplo por validar">
            <a:extLst xmlns:a="http://schemas.openxmlformats.org/drawingml/2006/main">
              <a:ext uri="{FF2B5EF4-FFF2-40B4-BE49-F238E27FC236}">
                <a16:creationId xmlns:a16="http://schemas.microsoft.com/office/drawing/2014/main" id="{90BE0A95-340B-4336-8B4B-835139D6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Propuesta MINTRONICK · Reglas y datos de ejemplo por validar</a:t>
            </a:r>
          </a:p>
        </p:txBody>
      </p:sp>
      <p:sp>
        <p:nvSpPr>
          <p:cNvPr id="4" name="28">
            <a:extLst xmlns:a="http://schemas.openxmlformats.org/drawingml/2006/main">
              <a:ext uri="{FF2B5EF4-FFF2-40B4-BE49-F238E27FC236}">
                <a16:creationId xmlns:a16="http://schemas.microsoft.com/office/drawing/2014/main" id="{F688F180-39F8-4E74-BAF3-7AAF7D3D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Por señal">
            <a:extLst xmlns:a="http://schemas.openxmlformats.org/drawingml/2006/main">
              <a:ext uri="{FF2B5EF4-FFF2-40B4-BE49-F238E27FC236}">
                <a16:creationId xmlns:a16="http://schemas.microsoft.com/office/drawing/2014/main" id="{5F515F72-8910-4324-9FBC-3AFBD9DB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Por señal</a:t>
            </a:r>
          </a:p>
        </p:txBody>
      </p:sp>
      <p:sp>
        <p:nvSpPr>
          <p:cNvPr id="6" name="Guardar valor, unidad, origen, hora de medición y recepción.&#10;&#10;Dis">
            <a:extLst xmlns:a="http://schemas.openxmlformats.org/drawingml/2006/main">
              <a:ext uri="{FF2B5EF4-FFF2-40B4-BE49-F238E27FC236}">
                <a16:creationId xmlns:a16="http://schemas.microsoft.com/office/drawing/2014/main" id="{4BE03DA9-A027-49C2-8EBE-A240D929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Guardar valor, unidad, origen, hora de medición y recepción.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Distinguir nulo, cero, no soportado e inválido.</a:t>
            </a:r>
          </a:p>
        </p:txBody>
      </p:sp>
      <p:sp>
        <p:nvSpPr>
          <p:cNvPr id="7" name="Por equipo">
            <a:extLst xmlns:a="http://schemas.openxmlformats.org/drawingml/2006/main">
              <a:ext uri="{FF2B5EF4-FFF2-40B4-BE49-F238E27FC236}">
                <a16:creationId xmlns:a16="http://schemas.microsoft.com/office/drawing/2014/main" id="{17264218-A64C-491E-BDCC-0498C1FB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Por equipo</a:t>
            </a:r>
          </a:p>
        </p:txBody>
      </p:sp>
      <p:sp>
        <p:nvSpPr>
          <p:cNvPr id="8" name="Separar conexión del dispositivo de actualización de sus sensores">
            <a:extLst xmlns:a="http://schemas.openxmlformats.org/drawingml/2006/main">
              <a:ext uri="{FF2B5EF4-FFF2-40B4-BE49-F238E27FC236}">
                <a16:creationId xmlns:a16="http://schemas.microsoft.com/office/drawing/2014/main" id="{E1464F89-1DE0-45E4-9E7E-69BA042E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Separar conexión del dispositivo de actualización de sus sensores.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Un módem conectado no garantiza telemetría fresca.</a:t>
            </a:r>
          </a:p>
        </p:txBody>
      </p:sp>
      <p:sp>
        <p:nvSpPr>
          <p:cNvPr id="9" name="En el reporte">
            <a:extLst xmlns:a="http://schemas.openxmlformats.org/drawingml/2006/main">
              <a:ext uri="{FF2B5EF4-FFF2-40B4-BE49-F238E27FC236}">
                <a16:creationId xmlns:a16="http://schemas.microsoft.com/office/drawing/2014/main" id="{CA618362-9AF7-41F2-AEEC-B74C76D7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En el reporte</a:t>
            </a:r>
          </a:p>
        </p:txBody>
      </p:sp>
      <p:sp>
        <p:nvSpPr>
          <p:cNvPr id="10" name="Indicar cobertura y vacíos.&#10;&#10;No unir líneas sobre cortes, sumar m">
            <a:extLst xmlns:a="http://schemas.openxmlformats.org/drawingml/2006/main">
              <a:ext uri="{FF2B5EF4-FFF2-40B4-BE49-F238E27FC236}">
                <a16:creationId xmlns:a16="http://schemas.microsoft.com/office/drawing/2014/main" id="{632FB8FC-A825-4F75-81DE-6784EA91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Indicar cobertura y vacíos.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No unir líneas sobre cortes, sumar muestras como horas ni arrastrar valores antiguos indefinidamente.</a:t>
            </a:r>
          </a:p>
        </p:txBody>
      </p:sp>
      <p:sp>
        <p:nvSpPr>
          <p:cNvPr id="11" name="Definir cadencia y vencimiento por señal. “En vivo” solo cuando l">
            <a:extLst xmlns:a="http://schemas.openxmlformats.org/drawingml/2006/main">
              <a:ext uri="{FF2B5EF4-FFF2-40B4-BE49-F238E27FC236}">
                <a16:creationId xmlns:a16="http://schemas.microsoft.com/office/drawing/2014/main" id="{63E8A096-BB44-4A68-A6D0-3A4DC591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87F86"/>
                </a:solidFill>
                <a:latin typeface="Arial"/>
                <a:ea typeface="Arial"/>
                <a:cs typeface="Arial"/>
              </a:rPr>
              <a:t>Definir cadencia y vencimiento por señal. “En vivo” solo cuando la latencia medida lo justifique.</a:t>
            </a:r>
          </a:p>
        </p:txBody>
      </p:sp>
    </p:spTree>
    <p:extLst>
      <p:ext uri="{BB962C8B-B14F-4D97-AF65-F5344CB8AC3E}">
        <p14:creationId xmlns:p14="http://schemas.microsoft.com/office/powerpoint/2010/main" val="184714995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ROPUESTA">
            <a:extLst xmlns:a="http://schemas.openxmlformats.org/drawingml/2006/main">
              <a:ext uri="{FF2B5EF4-FFF2-40B4-BE49-F238E27FC236}">
                <a16:creationId xmlns:a16="http://schemas.microsoft.com/office/drawing/2014/main" id="{A861A556-191C-4E2B-802E-84758A52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PROPUESTA</a:t>
            </a:r>
          </a:p>
        </p:txBody>
      </p:sp>
      <p:sp>
        <p:nvSpPr>
          <p:cNvPr id="2" name="Implementar por valor y por evidencia">
            <a:extLst xmlns:a="http://schemas.openxmlformats.org/drawingml/2006/main">
              <a:ext uri="{FF2B5EF4-FFF2-40B4-BE49-F238E27FC236}">
                <a16:creationId xmlns:a16="http://schemas.microsoft.com/office/drawing/2014/main" id="{22203CE1-4583-482F-BB59-CB8E642A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Implementar por valor y por evidencia</a:t>
            </a:r>
          </a:p>
        </p:txBody>
      </p:sp>
      <p:sp>
        <p:nvSpPr>
          <p:cNvPr id="3" name="Propuesta MINTRONICK · Reglas y datos de ejemplo por validar">
            <a:extLst xmlns:a="http://schemas.openxmlformats.org/drawingml/2006/main">
              <a:ext uri="{FF2B5EF4-FFF2-40B4-BE49-F238E27FC236}">
                <a16:creationId xmlns:a16="http://schemas.microsoft.com/office/drawing/2014/main" id="{6325D496-49DA-4328-B0A2-7B8F6733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Propuesta MINTRONICK · Reglas y datos de ejemplo por validar</a:t>
            </a:r>
          </a:p>
        </p:txBody>
      </p:sp>
      <p:sp>
        <p:nvSpPr>
          <p:cNvPr id="4" name="29">
            <a:extLst xmlns:a="http://schemas.openxmlformats.org/drawingml/2006/main">
              <a:ext uri="{FF2B5EF4-FFF2-40B4-BE49-F238E27FC236}">
                <a16:creationId xmlns:a16="http://schemas.microsoft.com/office/drawing/2014/main" id="{24A282F1-0D49-45A3-9EE9-AF3ED289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1 · Base confiable">
            <a:extLst xmlns:a="http://schemas.openxmlformats.org/drawingml/2006/main">
              <a:ext uri="{FF2B5EF4-FFF2-40B4-BE49-F238E27FC236}">
                <a16:creationId xmlns:a16="http://schemas.microsoft.com/office/drawing/2014/main" id="{200F8E22-D2E2-4590-97D6-AED0DA30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1 · Base confiable</a:t>
            </a:r>
          </a:p>
        </p:txBody>
      </p:sp>
      <p:sp>
        <p:nvSpPr>
          <p:cNvPr id="6" name="Catálogo de equipos, unidades, decodificación y calidad del dato.">
            <a:extLst xmlns:a="http://schemas.openxmlformats.org/drawingml/2006/main">
              <a:ext uri="{FF2B5EF4-FFF2-40B4-BE49-F238E27FC236}">
                <a16:creationId xmlns:a16="http://schemas.microsoft.com/office/drawing/2014/main" id="{94CCE131-1E5B-4073-8552-368FF7D3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Catálogo de equipos, unidades, decodificación y calidad del dato.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Salida: lecturas confiables y trazables.</a:t>
            </a:r>
          </a:p>
        </p:txBody>
      </p:sp>
      <p:sp>
        <p:nvSpPr>
          <p:cNvPr id="7" name="2 · Monitoreo útil">
            <a:extLst xmlns:a="http://schemas.openxmlformats.org/drawingml/2006/main">
              <a:ext uri="{FF2B5EF4-FFF2-40B4-BE49-F238E27FC236}">
                <a16:creationId xmlns:a16="http://schemas.microsoft.com/office/drawing/2014/main" id="{B78D2292-AF97-4679-8A06-1608FCF4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2 · Monitoreo útil</a:t>
            </a:r>
          </a:p>
        </p:txBody>
      </p:sp>
      <p:sp>
        <p:nvSpPr>
          <p:cNvPr id="8" name="Resumen, equipos, mapa, historial, alertas y reporte básico.&#10;&#10;Sal">
            <a:extLst xmlns:a="http://schemas.openxmlformats.org/drawingml/2006/main">
              <a:ext uri="{FF2B5EF4-FFF2-40B4-BE49-F238E27FC236}">
                <a16:creationId xmlns:a16="http://schemas.microsoft.com/office/drawing/2014/main" id="{55321825-F82A-4795-84E4-BDE5D0C8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Resumen, equipos, mapa, historial, alertas y reporte básico.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Salida: detectar, investigar y documentar un evento.</a:t>
            </a:r>
          </a:p>
        </p:txBody>
      </p:sp>
      <p:sp>
        <p:nvSpPr>
          <p:cNvPr id="9" name="3 · Gestión ampliada">
            <a:extLst xmlns:a="http://schemas.openxmlformats.org/drawingml/2006/main">
              <a:ext uri="{FF2B5EF4-FFF2-40B4-BE49-F238E27FC236}">
                <a16:creationId xmlns:a16="http://schemas.microsoft.com/office/drawing/2014/main" id="{C18241E3-68E8-4AD5-9773-870B46F8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3 · Gestión ampliada</a:t>
            </a:r>
          </a:p>
        </p:txBody>
      </p:sp>
      <p:sp>
        <p:nvSpPr>
          <p:cNvPr id="10" name="Mantenimiento, producción y comparaciones operativas.&#10;&#10;Salida: KP">
            <a:extLst xmlns:a="http://schemas.openxmlformats.org/drawingml/2006/main">
              <a:ext uri="{FF2B5EF4-FFF2-40B4-BE49-F238E27FC236}">
                <a16:creationId xmlns:a16="http://schemas.microsoft.com/office/drawing/2014/main" id="{96A8C56E-483A-4BEC-A126-46655800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Mantenimiento, producción y comparaciones operativas.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Salida: KPI validados con las fuentes del cliente.</a:t>
            </a:r>
          </a:p>
        </p:txBody>
      </p:sp>
      <p:sp>
        <p:nvSpPr>
          <p:cNvPr id="11" name="No se ha modificado tu dashboard actual. Esta presentación define">
            <a:extLst xmlns:a="http://schemas.openxmlformats.org/drawingml/2006/main">
              <a:ext uri="{FF2B5EF4-FFF2-40B4-BE49-F238E27FC236}">
                <a16:creationId xmlns:a16="http://schemas.microsoft.com/office/drawing/2014/main" id="{02C9C168-E9FA-4FA0-9671-C203F947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62625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No se ha modificado tu dashboard actual. Esta presentación define la propuesta antes de construirla.</a:t>
            </a:r>
          </a:p>
        </p:txBody>
      </p:sp>
    </p:spTree>
    <p:extLst>
      <p:ext uri="{BB962C8B-B14F-4D97-AF65-F5344CB8AC3E}">
        <p14:creationId xmlns:p14="http://schemas.microsoft.com/office/powerpoint/2010/main" val="49812644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ROPUESTA">
            <a:extLst xmlns:a="http://schemas.openxmlformats.org/drawingml/2006/main">
              <a:ext uri="{FF2B5EF4-FFF2-40B4-BE49-F238E27FC236}">
                <a16:creationId xmlns:a16="http://schemas.microsoft.com/office/drawing/2014/main" id="{A6F3ACB0-C15A-40E1-BACC-2683253B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PROPUESTA</a:t>
            </a:r>
          </a:p>
        </p:txBody>
      </p:sp>
      <p:sp>
        <p:nvSpPr>
          <p:cNvPr id="2" name="Cómo comprobar si la propuesta funciona">
            <a:extLst xmlns:a="http://schemas.openxmlformats.org/drawingml/2006/main">
              <a:ext uri="{FF2B5EF4-FFF2-40B4-BE49-F238E27FC236}">
                <a16:creationId xmlns:a16="http://schemas.microsoft.com/office/drawing/2014/main" id="{1A445A3A-890D-423A-8E79-BF0B6A5E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Cómo comprobar si la propuesta funciona</a:t>
            </a:r>
          </a:p>
        </p:txBody>
      </p:sp>
      <p:sp>
        <p:nvSpPr>
          <p:cNvPr id="3" name="Propuesta MINTRONICK · Reglas y datos de ejemplo por validar">
            <a:extLst xmlns:a="http://schemas.openxmlformats.org/drawingml/2006/main">
              <a:ext uri="{FF2B5EF4-FFF2-40B4-BE49-F238E27FC236}">
                <a16:creationId xmlns:a16="http://schemas.microsoft.com/office/drawing/2014/main" id="{67198AFF-3423-4408-B375-0AC99044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Propuesta MINTRONICK · Reglas y datos de ejemplo por validar</a:t>
            </a:r>
          </a:p>
        </p:txBody>
      </p:sp>
      <p:sp>
        <p:nvSpPr>
          <p:cNvPr id="4" name="30">
            <a:extLst xmlns:a="http://schemas.openxmlformats.org/drawingml/2006/main">
              <a:ext uri="{FF2B5EF4-FFF2-40B4-BE49-F238E27FC236}">
                <a16:creationId xmlns:a16="http://schemas.microsoft.com/office/drawing/2014/main" id="{6C1720B5-BBCC-4228-8E53-24EEC1CE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Prueba con el cliente">
            <a:extLst xmlns:a="http://schemas.openxmlformats.org/drawingml/2006/main">
              <a:ext uri="{FF2B5EF4-FFF2-40B4-BE49-F238E27FC236}">
                <a16:creationId xmlns:a16="http://schemas.microsoft.com/office/drawing/2014/main" id="{5ED28072-D030-42D5-B2D6-25EB5E64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Prueba con el cliente</a:t>
            </a:r>
          </a:p>
        </p:txBody>
      </p:sp>
      <p:sp>
        <p:nvSpPr>
          <p:cNvPr id="6" name="Resultado esperado">
            <a:extLst xmlns:a="http://schemas.openxmlformats.org/drawingml/2006/main">
              <a:ext uri="{FF2B5EF4-FFF2-40B4-BE49-F238E27FC236}">
                <a16:creationId xmlns:a16="http://schemas.microsoft.com/office/drawing/2014/main" id="{B365BB4A-E14E-4B23-B701-BF6E3BA3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811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Resultado esperado</a:t>
            </a:r>
          </a:p>
        </p:txBody>
      </p:sp>
      <p:sp>
        <p:nvSpPr>
          <p:cNvPr id="7" name="Criterio propuesto">
            <a:extLst xmlns:a="http://schemas.openxmlformats.org/drawingml/2006/main">
              <a:ext uri="{FF2B5EF4-FFF2-40B4-BE49-F238E27FC236}">
                <a16:creationId xmlns:a16="http://schemas.microsoft.com/office/drawing/2014/main" id="{C8659971-A11B-448C-909C-D690AEF2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Criterio propuesto</a:t>
            </a:r>
          </a:p>
        </p:txBody>
      </p:sp>
      <p:sp>
        <p:nvSpPr>
          <p:cNvPr id="8" name="Encontrar un equipo crítico">
            <a:extLst xmlns:a="http://schemas.openxmlformats.org/drawingml/2006/main">
              <a:ext uri="{FF2B5EF4-FFF2-40B4-BE49-F238E27FC236}">
                <a16:creationId xmlns:a16="http://schemas.microsoft.com/office/drawing/2014/main" id="{C38832BA-7D6C-46FC-9B57-C6137F74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5025"/>
            <a:ext cx="3390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Encontrar un equipo crítico</a:t>
            </a:r>
          </a:p>
        </p:txBody>
      </p:sp>
      <p:sp>
        <p:nvSpPr>
          <p:cNvPr id="9" name="Llegar desde la lista hasta su evento">
            <a:extLst xmlns:a="http://schemas.openxmlformats.org/drawingml/2006/main">
              <a:ext uri="{FF2B5EF4-FFF2-40B4-BE49-F238E27FC236}">
                <a16:creationId xmlns:a16="http://schemas.microsoft.com/office/drawing/2014/main" id="{C252BDA8-57BE-4FAA-9149-ACD711D2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05025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Llegar desde la lista hasta su evento</a:t>
            </a:r>
          </a:p>
        </p:txBody>
      </p:sp>
      <p:sp>
        <p:nvSpPr>
          <p:cNvPr id="10" name="Sin revisar tarjetas una por una">
            <a:extLst xmlns:a="http://schemas.openxmlformats.org/drawingml/2006/main">
              <a:ext uri="{FF2B5EF4-FFF2-40B4-BE49-F238E27FC236}">
                <a16:creationId xmlns:a16="http://schemas.microsoft.com/office/drawing/2014/main" id="{E6631215-0850-4E47-8647-34256F4A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05025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Sin revisar tarjetas una por una</a:t>
            </a:r>
          </a:p>
        </p:txBody>
      </p:sp>
      <p:sp>
        <p:nvSpPr>
          <p:cNvPr id="11" name="Explicar una sección roja">
            <a:extLst xmlns:a="http://schemas.openxmlformats.org/drawingml/2006/main">
              <a:ext uri="{FF2B5EF4-FFF2-40B4-BE49-F238E27FC236}">
                <a16:creationId xmlns:a16="http://schemas.microsoft.com/office/drawing/2014/main" id="{9E89C001-B373-4248-899E-16144AF8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6075"/>
            <a:ext cx="3390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Explicar una sección roja</a:t>
            </a:r>
          </a:p>
        </p:txBody>
      </p:sp>
      <p:sp>
        <p:nvSpPr>
          <p:cNvPr id="12" name="Identificar valor, límite y duración">
            <a:extLst xmlns:a="http://schemas.openxmlformats.org/drawingml/2006/main">
              <a:ext uri="{FF2B5EF4-FFF2-40B4-BE49-F238E27FC236}">
                <a16:creationId xmlns:a16="http://schemas.microsoft.com/office/drawing/2014/main" id="{CBE9102B-CB39-4E68-9FAA-4E0FE8B9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86075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Identificar valor, límite y duración</a:t>
            </a:r>
          </a:p>
        </p:txBody>
      </p:sp>
      <p:sp>
        <p:nvSpPr>
          <p:cNvPr id="13" name="Sin depender solo del color">
            <a:extLst xmlns:a="http://schemas.openxmlformats.org/drawingml/2006/main">
              <a:ext uri="{FF2B5EF4-FFF2-40B4-BE49-F238E27FC236}">
                <a16:creationId xmlns:a16="http://schemas.microsoft.com/office/drawing/2014/main" id="{7F96EB72-9610-4D89-8196-1FFCABCC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86075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Sin depender solo del color</a:t>
            </a:r>
          </a:p>
        </p:txBody>
      </p:sp>
      <p:sp>
        <p:nvSpPr>
          <p:cNvPr id="14" name="Investigar una pérdida de señal">
            <a:extLst xmlns:a="http://schemas.openxmlformats.org/drawingml/2006/main">
              <a:ext uri="{FF2B5EF4-FFF2-40B4-BE49-F238E27FC236}">
                <a16:creationId xmlns:a16="http://schemas.microsoft.com/office/drawing/2014/main" id="{434461C6-7EA2-492E-8BAC-21331F2B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67125"/>
            <a:ext cx="3390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Investigar una pérdida de señal</a:t>
            </a:r>
          </a:p>
        </p:txBody>
      </p:sp>
      <p:sp>
        <p:nvSpPr>
          <p:cNvPr id="15" name="Reconocer última lectura y vacíos">
            <a:extLst xmlns:a="http://schemas.openxmlformats.org/drawingml/2006/main">
              <a:ext uri="{FF2B5EF4-FFF2-40B4-BE49-F238E27FC236}">
                <a16:creationId xmlns:a16="http://schemas.microsoft.com/office/drawing/2014/main" id="{2D7D9707-A523-46FA-9A80-800887EE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67125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Reconocer última lectura y vacíos</a:t>
            </a:r>
          </a:p>
        </p:txBody>
      </p:sp>
      <p:sp>
        <p:nvSpPr>
          <p:cNvPr id="16" name="Nunca interpretarla como cero">
            <a:extLst xmlns:a="http://schemas.openxmlformats.org/drawingml/2006/main">
              <a:ext uri="{FF2B5EF4-FFF2-40B4-BE49-F238E27FC236}">
                <a16:creationId xmlns:a16="http://schemas.microsoft.com/office/drawing/2014/main" id="{E03283CB-16C3-4279-9235-4A9714FB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67125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Nunca interpretarla como cero</a:t>
            </a:r>
          </a:p>
        </p:txBody>
      </p:sp>
      <p:sp>
        <p:nvSpPr>
          <p:cNvPr id="17" name="Generar reporte de turno">
            <a:extLst xmlns:a="http://schemas.openxmlformats.org/drawingml/2006/main">
              <a:ext uri="{FF2B5EF4-FFF2-40B4-BE49-F238E27FC236}">
                <a16:creationId xmlns:a16="http://schemas.microsoft.com/office/drawing/2014/main" id="{6EFCE4E1-7137-4DFB-9438-8FB35956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48175"/>
            <a:ext cx="3390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Generar reporte de turno</a:t>
            </a:r>
          </a:p>
        </p:txBody>
      </p:sp>
      <p:sp>
        <p:nvSpPr>
          <p:cNvPr id="18" name="Reproducir filtros, periodo y totales">
            <a:extLst xmlns:a="http://schemas.openxmlformats.org/drawingml/2006/main">
              <a:ext uri="{FF2B5EF4-FFF2-40B4-BE49-F238E27FC236}">
                <a16:creationId xmlns:a16="http://schemas.microsoft.com/office/drawing/2014/main" id="{F9B216E9-E6D7-46D7-BA88-62D5AEF3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448175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Reproducir filtros, periodo y totales</a:t>
            </a:r>
          </a:p>
        </p:txBody>
      </p:sp>
      <p:sp>
        <p:nvSpPr>
          <p:cNvPr id="19" name="Coincidir con el historial consultado">
            <a:extLst xmlns:a="http://schemas.openxmlformats.org/drawingml/2006/main">
              <a:ext uri="{FF2B5EF4-FFF2-40B4-BE49-F238E27FC236}">
                <a16:creationId xmlns:a16="http://schemas.microsoft.com/office/drawing/2014/main" id="{11D82823-7BF5-4972-97CA-5E7002AA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48175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Coincidir con el historial consultado</a:t>
            </a:r>
          </a:p>
        </p:txBody>
      </p:sp>
      <p:sp>
        <p:nvSpPr>
          <p:cNvPr id="20" name="Volver al mapa o a la flota">
            <a:extLst xmlns:a="http://schemas.openxmlformats.org/drawingml/2006/main">
              <a:ext uri="{FF2B5EF4-FFF2-40B4-BE49-F238E27FC236}">
                <a16:creationId xmlns:a16="http://schemas.microsoft.com/office/drawing/2014/main" id="{D963E42F-0A06-4187-B734-BB0DF020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29225"/>
            <a:ext cx="3390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Volver al mapa o a la flota</a:t>
            </a:r>
          </a:p>
        </p:txBody>
      </p:sp>
      <p:sp>
        <p:nvSpPr>
          <p:cNvPr id="21" name="Mantener selección y contexto">
            <a:extLst xmlns:a="http://schemas.openxmlformats.org/drawingml/2006/main">
              <a:ext uri="{FF2B5EF4-FFF2-40B4-BE49-F238E27FC236}">
                <a16:creationId xmlns:a16="http://schemas.microsoft.com/office/drawing/2014/main" id="{33DAB19A-C8B3-444E-AF74-D337E2B4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229225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Mantener selección y contexto</a:t>
            </a:r>
          </a:p>
        </p:txBody>
      </p:sp>
      <p:sp>
        <p:nvSpPr>
          <p:cNvPr id="22" name="Sin rehacer filtros">
            <a:extLst xmlns:a="http://schemas.openxmlformats.org/drawingml/2006/main">
              <a:ext uri="{FF2B5EF4-FFF2-40B4-BE49-F238E27FC236}">
                <a16:creationId xmlns:a16="http://schemas.microsoft.com/office/drawing/2014/main" id="{3EE59293-592C-4E9C-9CB1-9636092E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29225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Sin rehacer filtros</a:t>
            </a:r>
          </a:p>
        </p:txBody>
      </p:sp>
    </p:spTree>
    <p:extLst>
      <p:ext uri="{BB962C8B-B14F-4D97-AF65-F5344CB8AC3E}">
        <p14:creationId xmlns:p14="http://schemas.microsoft.com/office/powerpoint/2010/main" val="33004230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JEMPLO DE GRÁFICO">
            <a:extLst xmlns:a="http://schemas.openxmlformats.org/drawingml/2006/main">
              <a:ext uri="{FF2B5EF4-FFF2-40B4-BE49-F238E27FC236}">
                <a16:creationId xmlns:a16="http://schemas.microsoft.com/office/drawing/2014/main" id="{E5439354-9750-4873-A9A6-7CE3A72A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EJEMPLO DE GRÁFICO</a:t>
            </a:r>
          </a:p>
        </p:txBody>
      </p:sp>
      <p:sp>
        <p:nvSpPr>
          <p:cNvPr id="2" name="Un límite convierte una curva en evidencia">
            <a:extLst xmlns:a="http://schemas.openxmlformats.org/drawingml/2006/main">
              <a:ext uri="{FF2B5EF4-FFF2-40B4-BE49-F238E27FC236}">
                <a16:creationId xmlns:a16="http://schemas.microsoft.com/office/drawing/2014/main" id="{104E966C-47FE-48F8-A229-6735D2F1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Un límite convierte una curva en evidencia</a:t>
            </a:r>
          </a:p>
        </p:txBody>
      </p:sp>
      <p:sp>
        <p:nvSpPr>
          <p:cNvPr id="3" name="Serie sintética de cinco lecturas · No permite inferir la duració">
            <a:extLst xmlns:a="http://schemas.openxmlformats.org/drawingml/2006/main">
              <a:ext uri="{FF2B5EF4-FFF2-40B4-BE49-F238E27FC236}">
                <a16:creationId xmlns:a16="http://schemas.microsoft.com/office/drawing/2014/main" id="{BF1FA169-CD90-4808-BA6A-43380FED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Serie sintética de cinco lecturas · No permite inferir la duración exacta del exceso</a:t>
            </a:r>
          </a:p>
        </p:txBody>
      </p:sp>
      <p:sp>
        <p:nvSpPr>
          <p:cNvPr id="4" name="31">
            <a:extLst xmlns:a="http://schemas.openxmlformats.org/drawingml/2006/main">
              <a:ext uri="{FF2B5EF4-FFF2-40B4-BE49-F238E27FC236}">
                <a16:creationId xmlns:a16="http://schemas.microsoft.com/office/drawing/2014/main" id="{27EFD5A7-8AE8-4BBE-B8EF-35BA35F2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57200" y="1971675"/>
          <a:ext xmlns:a="http://schemas.openxmlformats.org/drawingml/2006/main" cx="7524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e597df7e7048a4"/>
          </a:graphicData>
        </a:graphic>
      </p:graphicFrame>
      <p:sp>
        <p:nvSpPr>
          <p:cNvPr id="6" name="Azul: velocidad medida">
            <a:extLst xmlns:a="http://schemas.openxmlformats.org/drawingml/2006/main">
              <a:ext uri="{FF2B5EF4-FFF2-40B4-BE49-F238E27FC236}">
                <a16:creationId xmlns:a16="http://schemas.microsoft.com/office/drawing/2014/main" id="{AD2221FB-87CD-4F29-85A8-640D1AF4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414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DB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5DB5"/>
                </a:solidFill>
                <a:latin typeface="Arial"/>
                <a:ea typeface="Arial"/>
                <a:cs typeface="Arial"/>
              </a:rPr>
              <a:t>Azul: velocidad medida</a:t>
            </a:r>
          </a:p>
        </p:txBody>
      </p:sp>
      <p:sp>
        <p:nvSpPr>
          <p:cNvPr id="7" name="Rojo: límite de 40 km/h">
            <a:extLst xmlns:a="http://schemas.openxmlformats.org/drawingml/2006/main">
              <a:ext uri="{FF2B5EF4-FFF2-40B4-BE49-F238E27FC236}">
                <a16:creationId xmlns:a16="http://schemas.microsoft.com/office/drawing/2014/main" id="{D0A206F0-02D8-4974-8224-ADF9AF9D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29300"/>
            <a:ext cx="414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Rojo: límite de 40 km/h</a:t>
            </a:r>
          </a:p>
        </p:txBody>
      </p:sp>
      <p:sp>
        <p:nvSpPr>
          <p:cNvPr id="8" name="10:02 · exceso">
            <a:extLst xmlns:a="http://schemas.openxmlformats.org/drawingml/2006/main">
              <a:ext uri="{FF2B5EF4-FFF2-40B4-BE49-F238E27FC236}">
                <a16:creationId xmlns:a16="http://schemas.microsoft.com/office/drawing/2014/main" id="{B8A07895-4007-42CE-BD6C-767A81BE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10:02 · exceso</a:t>
            </a:r>
          </a:p>
        </p:txBody>
      </p:sp>
      <p:sp>
        <p:nvSpPr>
          <p:cNvPr id="9" name="46 km/h supera en 6 km/h el límite ilustrativo.">
            <a:extLst xmlns:a="http://schemas.openxmlformats.org/drawingml/2006/main">
              <a:ext uri="{FF2B5EF4-FFF2-40B4-BE49-F238E27FC236}">
                <a16:creationId xmlns:a16="http://schemas.microsoft.com/office/drawing/2014/main" id="{99A5A5DF-AB49-4029-9CFB-44BD274F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14625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32D"/>
                </a:solidFill>
                <a:latin typeface="Arial"/>
                <a:ea typeface="Arial"/>
                <a:cs typeface="Arial"/>
              </a:rPr>
              <a:t>46 km/h supera en 6 km/h el límite ilustrativo.</a:t>
            </a:r>
          </a:p>
        </p:txBody>
      </p:sp>
      <p:sp>
        <p:nvSpPr>
          <p:cNvPr id="10" name="Qué hacer">
            <a:extLst xmlns:a="http://schemas.openxmlformats.org/drawingml/2006/main">
              <a:ext uri="{FF2B5EF4-FFF2-40B4-BE49-F238E27FC236}">
                <a16:creationId xmlns:a16="http://schemas.microsoft.com/office/drawing/2014/main" id="{ECAC5165-14B4-46C6-82B3-5F797D10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481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Qué hacer</a:t>
            </a:r>
          </a:p>
        </p:txBody>
      </p:sp>
      <p:sp>
        <p:nvSpPr>
          <p:cNvPr id="11" name="Abrir el evento. Consultar muestras originales, zona, duración y ">
            <a:extLst xmlns:a="http://schemas.openxmlformats.org/drawingml/2006/main">
              <a:ext uri="{FF2B5EF4-FFF2-40B4-BE49-F238E27FC236}">
                <a16:creationId xmlns:a16="http://schemas.microsoft.com/office/drawing/2014/main" id="{C01ED78F-BCBF-45C8-A34F-F23AB8C4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1962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Abrir el evento. Consultar muestras originales, zona, duración y calidad del dato.</a:t>
            </a:r>
          </a:p>
        </p:txBody>
      </p:sp>
    </p:spTree>
    <p:extLst>
      <p:ext uri="{BB962C8B-B14F-4D97-AF65-F5344CB8AC3E}">
        <p14:creationId xmlns:p14="http://schemas.microsoft.com/office/powerpoint/2010/main" val="138435576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NEXO · TUS REFERENCIAS">
            <a:extLst xmlns:a="http://schemas.openxmlformats.org/drawingml/2006/main">
              <a:ext uri="{FF2B5EF4-FFF2-40B4-BE49-F238E27FC236}">
                <a16:creationId xmlns:a16="http://schemas.microsoft.com/office/drawing/2014/main" id="{953CE406-E057-4BE5-8187-5E936BF5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ANEXO · TUS REFERENCIAS</a:t>
            </a:r>
          </a:p>
        </p:txBody>
      </p:sp>
      <p:sp>
        <p:nvSpPr>
          <p:cNvPr id="2" name="Mapa, selector e historial ya existen">
            <a:extLst xmlns:a="http://schemas.openxmlformats.org/drawingml/2006/main">
              <a:ext uri="{FF2B5EF4-FFF2-40B4-BE49-F238E27FC236}">
                <a16:creationId xmlns:a16="http://schemas.microsoft.com/office/drawing/2014/main" id="{DEEB3BC1-29D5-45C9-9CD7-B4A20DF1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Mapa, selector e historial ya existen</a:t>
            </a:r>
          </a:p>
        </p:txBody>
      </p:sp>
      <p:sp>
        <p:nvSpPr>
          <p:cNvPr id="3" name="Capturas 3–5 del documento · Se conserva la intención y se reorga">
            <a:extLst xmlns:a="http://schemas.openxmlformats.org/drawingml/2006/main">
              <a:ext uri="{FF2B5EF4-FFF2-40B4-BE49-F238E27FC236}">
                <a16:creationId xmlns:a16="http://schemas.microsoft.com/office/drawing/2014/main" id="{76700C9B-7E3D-4D4B-B2D1-0BAEE0C3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Capturas 3–5 del documento · Se conserva la intención y se reorganiza la experiencia</a:t>
            </a:r>
          </a:p>
        </p:txBody>
      </p:sp>
      <p:sp>
        <p:nvSpPr>
          <p:cNvPr id="4" name="32">
            <a:extLst xmlns:a="http://schemas.openxmlformats.org/drawingml/2006/main">
              <a:ext uri="{FF2B5EF4-FFF2-40B4-BE49-F238E27FC236}">
                <a16:creationId xmlns:a16="http://schemas.microsoft.com/office/drawing/2014/main" id="{9FD2159D-7D06-46AD-BB12-9DE33045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6e9a30f8fa4cc9"/>
          <a:stretch xmlns:a="http://schemas.openxmlformats.org/drawingml/2006/main"/>
        </p:blipFill>
        <p:spPr>
          <a:xfrm xmlns:a="http://schemas.openxmlformats.org/drawingml/2006/main">
            <a:off x="569363" y="1571625"/>
            <a:ext cx="5395424" cy="2524125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83622b9684f1a"/>
          <a:stretch xmlns:a="http://schemas.openxmlformats.org/drawingml/2006/main"/>
        </p:blipFill>
        <p:spPr>
          <a:xfrm xmlns:a="http://schemas.openxmlformats.org/drawingml/2006/main">
            <a:off x="6381856" y="1571625"/>
            <a:ext cx="5238539" cy="252412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3fb39bada4003"/>
          <a:stretch xmlns:a="http://schemas.openxmlformats.org/drawingml/2006/main"/>
        </p:blipFill>
        <p:spPr>
          <a:xfrm xmlns:a="http://schemas.openxmlformats.org/drawingml/2006/main">
            <a:off x="1180086" y="4171950"/>
            <a:ext cx="4173978" cy="2009775"/>
          </a:xfrm>
          <a:prstGeom xmlns:a="http://schemas.openxmlformats.org/drawingml/2006/main" prst="rect">
            <a:avLst/>
          </a:prstGeom>
        </p:spPr>
      </p:pic>
      <p:sp>
        <p:nvSpPr>
          <p:cNvPr id="8" name="La mejora no es añadir pestañas repetidas: es hacer que mapa, lis">
            <a:extLst xmlns:a="http://schemas.openxmlformats.org/drawingml/2006/main">
              <a:ext uri="{FF2B5EF4-FFF2-40B4-BE49-F238E27FC236}">
                <a16:creationId xmlns:a16="http://schemas.microsoft.com/office/drawing/2014/main" id="{4D20A9BE-B443-4B8F-9671-D00C6144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4825"/>
            <a:ext cx="5048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La mejora no es añadir pestañas repetidas: es hacer que mapa, lista e historial compartan equipo, periodo y filtros.</a:t>
            </a:r>
          </a:p>
        </p:txBody>
      </p:sp>
    </p:spTree>
    <p:extLst>
      <p:ext uri="{BB962C8B-B14F-4D97-AF65-F5344CB8AC3E}">
        <p14:creationId xmlns:p14="http://schemas.microsoft.com/office/powerpoint/2010/main" val="208279871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NEXO · TUS REFERENCIAS">
            <a:extLst xmlns:a="http://schemas.openxmlformats.org/drawingml/2006/main">
              <a:ext uri="{FF2B5EF4-FFF2-40B4-BE49-F238E27FC236}">
                <a16:creationId xmlns:a16="http://schemas.microsoft.com/office/drawing/2014/main" id="{DA046F9E-58AF-4AB6-89A0-2CD25E45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ANEXO · TUS REFERENCIAS</a:t>
            </a:r>
          </a:p>
        </p:txBody>
      </p:sp>
      <p:sp>
        <p:nvSpPr>
          <p:cNvPr id="2" name="Tendencias útiles, sin ruido visual">
            <a:extLst xmlns:a="http://schemas.openxmlformats.org/drawingml/2006/main">
              <a:ext uri="{FF2B5EF4-FFF2-40B4-BE49-F238E27FC236}">
                <a16:creationId xmlns:a16="http://schemas.microsoft.com/office/drawing/2014/main" id="{09D63D57-54EF-4870-8803-8F9A209E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Tendencias útiles, sin ruido visual</a:t>
            </a:r>
          </a:p>
        </p:txBody>
      </p:sp>
      <p:sp>
        <p:nvSpPr>
          <p:cNvPr id="3" name="Capturas 6–7 del documento · Interfaces tipo Grafana, no atribuid">
            <a:extLst xmlns:a="http://schemas.openxmlformats.org/drawingml/2006/main">
              <a:ext uri="{FF2B5EF4-FFF2-40B4-BE49-F238E27FC236}">
                <a16:creationId xmlns:a16="http://schemas.microsoft.com/office/drawing/2014/main" id="{40F1A851-162C-4AFB-BFBC-E8B461EC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Capturas 6–7 del documento · Interfaces tipo Grafana, no atribuidas a fabricantes</a:t>
            </a:r>
          </a:p>
        </p:txBody>
      </p:sp>
      <p:sp>
        <p:nvSpPr>
          <p:cNvPr id="4" name="33">
            <a:extLst xmlns:a="http://schemas.openxmlformats.org/drawingml/2006/main">
              <a:ext uri="{FF2B5EF4-FFF2-40B4-BE49-F238E27FC236}">
                <a16:creationId xmlns:a16="http://schemas.microsoft.com/office/drawing/2014/main" id="{CEB65BA2-8E6F-40D8-8D92-586D3733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462f95064a4297"/>
          <a:stretch xmlns:a="http://schemas.openxmlformats.org/drawingml/2006/main"/>
        </p:blipFill>
        <p:spPr>
          <a:xfrm xmlns:a="http://schemas.openxmlformats.org/drawingml/2006/main">
            <a:off x="457200" y="1878935"/>
            <a:ext cx="5448300" cy="258578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2826302c641bf"/>
          <a:stretch xmlns:a="http://schemas.openxmlformats.org/drawingml/2006/main"/>
        </p:blipFill>
        <p:spPr>
          <a:xfrm xmlns:a="http://schemas.openxmlformats.org/drawingml/2006/main">
            <a:off x="6286500" y="1860197"/>
            <a:ext cx="5448300" cy="2623256"/>
          </a:xfrm>
          <a:prstGeom xmlns:a="http://schemas.openxmlformats.org/drawingml/2006/main" prst="rect">
            <a:avLst/>
          </a:prstGeom>
        </p:spPr>
      </p:pic>
      <p:sp>
        <p:nvSpPr>
          <p:cNvPr id="7" name="Conservar: límites, series temporales y selección de parámetros.">
            <a:extLst xmlns:a="http://schemas.openxmlformats.org/drawingml/2006/main">
              <a:ext uri="{FF2B5EF4-FFF2-40B4-BE49-F238E27FC236}">
                <a16:creationId xmlns:a16="http://schemas.microsoft.com/office/drawing/2014/main" id="{258085D8-FEC5-418F-BB28-8B364909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Conservar: límites, series temporales y selección de parámetros.</a:t>
            </a:r>
          </a:p>
        </p:txBody>
      </p:sp>
      <p:sp>
        <p:nvSpPr>
          <p:cNvPr id="8" name="Cambiar: ejes con unidades incompatibles, demasiados colores y me">
            <a:extLst xmlns:a="http://schemas.openxmlformats.org/drawingml/2006/main">
              <a:ext uri="{FF2B5EF4-FFF2-40B4-BE49-F238E27FC236}">
                <a16:creationId xmlns:a16="http://schemas.microsoft.com/office/drawing/2014/main" id="{41685C23-C443-4B79-8536-8A75724C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Cambiar: ejes con unidades incompatibles, demasiados colores y medidores sin decisión asociada.</a:t>
            </a:r>
          </a:p>
        </p:txBody>
      </p:sp>
    </p:spTree>
    <p:extLst>
      <p:ext uri="{BB962C8B-B14F-4D97-AF65-F5344CB8AC3E}">
        <p14:creationId xmlns:p14="http://schemas.microsoft.com/office/powerpoint/2010/main" val="32556377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NEXO · TUS REFERENCIAS">
            <a:extLst xmlns:a="http://schemas.openxmlformats.org/drawingml/2006/main">
              <a:ext uri="{FF2B5EF4-FFF2-40B4-BE49-F238E27FC236}">
                <a16:creationId xmlns:a16="http://schemas.microsoft.com/office/drawing/2014/main" id="{B0081E3D-FB01-474B-85A5-6B674647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ANEXO · TUS REFERENCIAS</a:t>
            </a:r>
          </a:p>
        </p:txBody>
      </p:sp>
      <p:sp>
        <p:nvSpPr>
          <p:cNvPr id="2" name="Operación y producción: una fase futura">
            <a:extLst xmlns:a="http://schemas.openxmlformats.org/drawingml/2006/main">
              <a:ext uri="{FF2B5EF4-FFF2-40B4-BE49-F238E27FC236}">
                <a16:creationId xmlns:a16="http://schemas.microsoft.com/office/drawing/2014/main" id="{4D7EFBEC-5457-4156-BCAB-35970E20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Operación y producción: una fase futura</a:t>
            </a:r>
          </a:p>
        </p:txBody>
      </p:sp>
      <p:sp>
        <p:nvSpPr>
          <p:cNvPr id="3" name="Capturas 8–11 · Marca visible MINTEGRA; proveedor y versión no ve">
            <a:extLst xmlns:a="http://schemas.openxmlformats.org/drawingml/2006/main">
              <a:ext uri="{FF2B5EF4-FFF2-40B4-BE49-F238E27FC236}">
                <a16:creationId xmlns:a16="http://schemas.microsoft.com/office/drawing/2014/main" id="{A3FEF295-43D2-49EB-BD79-D249BE8D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Capturas 8–11 · Marca visible MINTEGRA; proveedor y versión no verificados</a:t>
            </a:r>
          </a:p>
        </p:txBody>
      </p:sp>
      <p:sp>
        <p:nvSpPr>
          <p:cNvPr id="4" name="34">
            <a:extLst xmlns:a="http://schemas.openxmlformats.org/drawingml/2006/main">
              <a:ext uri="{FF2B5EF4-FFF2-40B4-BE49-F238E27FC236}">
                <a16:creationId xmlns:a16="http://schemas.microsoft.com/office/drawing/2014/main" id="{EF76B860-168B-4CE5-B4B1-90FDB34A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28b74b58846d8"/>
          <a:stretch xmlns:a="http://schemas.openxmlformats.org/drawingml/2006/main"/>
        </p:blipFill>
        <p:spPr>
          <a:xfrm xmlns:a="http://schemas.openxmlformats.org/drawingml/2006/main">
            <a:off x="457200" y="1665406"/>
            <a:ext cx="2571750" cy="1860313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b9acb76f384c5e"/>
          <a:stretch xmlns:a="http://schemas.openxmlformats.org/drawingml/2006/main"/>
        </p:blipFill>
        <p:spPr>
          <a:xfrm xmlns:a="http://schemas.openxmlformats.org/drawingml/2006/main">
            <a:off x="3399138" y="1571625"/>
            <a:ext cx="3431574" cy="2047875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0955abf154fd7"/>
          <a:stretch xmlns:a="http://schemas.openxmlformats.org/drawingml/2006/main"/>
        </p:blipFill>
        <p:spPr>
          <a:xfrm xmlns:a="http://schemas.openxmlformats.org/drawingml/2006/main">
            <a:off x="7583747" y="1571625"/>
            <a:ext cx="3787256" cy="2047875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b021bc09544d9"/>
          <a:stretch xmlns:a="http://schemas.openxmlformats.org/drawingml/2006/main"/>
        </p:blipFill>
        <p:spPr>
          <a:xfrm xmlns:a="http://schemas.openxmlformats.org/drawingml/2006/main">
            <a:off x="583115" y="3857625"/>
            <a:ext cx="3796296" cy="2333625"/>
          </a:xfrm>
          <a:prstGeom xmlns:a="http://schemas.openxmlformats.org/drawingml/2006/main" prst="rect">
            <a:avLst/>
          </a:prstGeom>
        </p:spPr>
      </p:pic>
      <p:sp>
        <p:nvSpPr>
          <p:cNvPr id="9" name="Tomar estados, zonas y comparación por turno.&#10;&#10;Reemplazar las tor">
            <a:extLst xmlns:a="http://schemas.openxmlformats.org/drawingml/2006/main">
              <a:ext uri="{FF2B5EF4-FFF2-40B4-BE49-F238E27FC236}">
                <a16:creationId xmlns:a16="http://schemas.microsoft.com/office/drawing/2014/main" id="{E959550E-7F59-4FC3-B9FC-54770A94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10025"/>
            <a:ext cx="642937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32D"/>
                </a:solidFill>
                <a:latin typeface="Arial"/>
                <a:ea typeface="Arial"/>
                <a:cs typeface="Arial"/>
              </a:rPr>
              <a:t>Tomar estados, zonas y comparación por turno.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32D"/>
                </a:solidFill>
                <a:latin typeface="Arial"/>
                <a:ea typeface="Arial"/>
                <a:cs typeface="Arial"/>
              </a:rPr>
              <a:t>Reemplazar las tortas 3D por barras ordenadas. Validar carga útil y ciclos antes de mostrar producción.</a:t>
            </a:r>
          </a:p>
        </p:txBody>
      </p:sp>
    </p:spTree>
    <p:extLst>
      <p:ext uri="{BB962C8B-B14F-4D97-AF65-F5344CB8AC3E}">
        <p14:creationId xmlns:p14="http://schemas.microsoft.com/office/powerpoint/2010/main" val="131855366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NEXO · TUS REFERENCIAS">
            <a:extLst xmlns:a="http://schemas.openxmlformats.org/drawingml/2006/main">
              <a:ext uri="{FF2B5EF4-FFF2-40B4-BE49-F238E27FC236}">
                <a16:creationId xmlns:a16="http://schemas.microsoft.com/office/drawing/2014/main" id="{DA192F33-0111-4B76-ABDD-8DAC1D6A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ANEXO · TUS REFERENCIAS</a:t>
            </a:r>
          </a:p>
        </p:txBody>
      </p:sp>
      <p:sp>
        <p:nvSpPr>
          <p:cNvPr id="2" name="Salud e informes necesitan contexto">
            <a:extLst xmlns:a="http://schemas.openxmlformats.org/drawingml/2006/main">
              <a:ext uri="{FF2B5EF4-FFF2-40B4-BE49-F238E27FC236}">
                <a16:creationId xmlns:a16="http://schemas.microsoft.com/office/drawing/2014/main" id="{AA7A65C0-6715-4953-9B1B-00E827EC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Salud e informes necesitan contexto</a:t>
            </a:r>
          </a:p>
        </p:txBody>
      </p:sp>
      <p:sp>
        <p:nvSpPr>
          <p:cNvPr id="3" name="Capturas 13–14 · Health / Report 4Miners visibles en las fotograf">
            <a:extLst xmlns:a="http://schemas.openxmlformats.org/drawingml/2006/main">
              <a:ext uri="{FF2B5EF4-FFF2-40B4-BE49-F238E27FC236}">
                <a16:creationId xmlns:a16="http://schemas.microsoft.com/office/drawing/2014/main" id="{69001B64-1B8F-4545-B0F7-41581176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Capturas 13–14 · Health / Report 4Miners visibles en las fotografías del documento</a:t>
            </a:r>
          </a:p>
        </p:txBody>
      </p:sp>
      <p:sp>
        <p:nvSpPr>
          <p:cNvPr id="4" name="35">
            <a:extLst xmlns:a="http://schemas.openxmlformats.org/drawingml/2006/main">
              <a:ext uri="{FF2B5EF4-FFF2-40B4-BE49-F238E27FC236}">
                <a16:creationId xmlns:a16="http://schemas.microsoft.com/office/drawing/2014/main" id="{01683F9A-2570-43D0-B2B4-7E8CAED3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c7e676d0648a7"/>
          <a:stretch xmlns:a="http://schemas.openxmlformats.org/drawingml/2006/main"/>
        </p:blipFill>
        <p:spPr>
          <a:xfrm xmlns:a="http://schemas.openxmlformats.org/drawingml/2006/main">
            <a:off x="457200" y="1641455"/>
            <a:ext cx="5429250" cy="306074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c704ba94aa46e2"/>
          <a:stretch xmlns:a="http://schemas.openxmlformats.org/drawingml/2006/main"/>
        </p:blipFill>
        <p:spPr>
          <a:xfrm xmlns:a="http://schemas.openxmlformats.org/drawingml/2006/main">
            <a:off x="6305550" y="1641455"/>
            <a:ext cx="5429250" cy="3060740"/>
          </a:xfrm>
          <a:prstGeom xmlns:a="http://schemas.openxmlformats.org/drawingml/2006/main" prst="rect">
            <a:avLst/>
          </a:prstGeom>
        </p:spPr>
      </p:pic>
      <p:sp>
        <p:nvSpPr>
          <p:cNvPr id="7" name="Historial contextual">
            <a:extLst xmlns:a="http://schemas.openxmlformats.org/drawingml/2006/main">
              <a:ext uri="{FF2B5EF4-FFF2-40B4-BE49-F238E27FC236}">
                <a16:creationId xmlns:a16="http://schemas.microsoft.com/office/drawing/2014/main" id="{B3DECB30-9110-444C-8FFF-B6920409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9675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Historial contextual</a:t>
            </a:r>
          </a:p>
        </p:txBody>
      </p:sp>
      <p:sp>
        <p:nvSpPr>
          <p:cNvPr id="8" name="Abrir una variable desde el equipo y conservar el periodo.">
            <a:extLst xmlns:a="http://schemas.openxmlformats.org/drawingml/2006/main">
              <a:ext uri="{FF2B5EF4-FFF2-40B4-BE49-F238E27FC236}">
                <a16:creationId xmlns:a16="http://schemas.microsoft.com/office/drawing/2014/main" id="{051E28B7-BC69-4BB3-91C0-9F587E68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542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Abrir una variable desde el equipo y conservar el periodo.</a:t>
            </a:r>
          </a:p>
        </p:txBody>
      </p:sp>
      <p:sp>
        <p:nvSpPr>
          <p:cNvPr id="9" name="Comparación operativa">
            <a:extLst xmlns:a="http://schemas.openxmlformats.org/drawingml/2006/main">
              <a:ext uri="{FF2B5EF4-FFF2-40B4-BE49-F238E27FC236}">
                <a16:creationId xmlns:a16="http://schemas.microsoft.com/office/drawing/2014/main" id="{6719151A-7D65-4577-8051-D9721F2D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19675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Comparación operativa</a:t>
            </a:r>
          </a:p>
        </p:txBody>
      </p:sp>
      <p:sp>
        <p:nvSpPr>
          <p:cNvPr id="10" name="Meta, periodo y fórmula deben acompañar al resultado.">
            <a:extLst xmlns:a="http://schemas.openxmlformats.org/drawingml/2006/main">
              <a:ext uri="{FF2B5EF4-FFF2-40B4-BE49-F238E27FC236}">
                <a16:creationId xmlns:a16="http://schemas.microsoft.com/office/drawing/2014/main" id="{CC5F39B4-AB9F-46CF-BCA3-4F99F7BD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72125"/>
            <a:ext cx="542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Meta, periodo y fórmula deben acompañar al resultado.</a:t>
            </a:r>
          </a:p>
        </p:txBody>
      </p:sp>
    </p:spTree>
    <p:extLst>
      <p:ext uri="{BB962C8B-B14F-4D97-AF65-F5344CB8AC3E}">
        <p14:creationId xmlns:p14="http://schemas.microsoft.com/office/powerpoint/2010/main" val="122718032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NEXO · FUENTES">
            <a:extLst xmlns:a="http://schemas.openxmlformats.org/drawingml/2006/main">
              <a:ext uri="{FF2B5EF4-FFF2-40B4-BE49-F238E27FC236}">
                <a16:creationId xmlns:a16="http://schemas.microsoft.com/office/drawing/2014/main" id="{46A59734-0E0A-44F2-A96A-02546FAF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ANEXO · FUENTES</a:t>
            </a:r>
          </a:p>
        </p:txBody>
      </p:sp>
      <p:sp>
        <p:nvSpPr>
          <p:cNvPr id="2" name="Fuentes para profundizar">
            <a:extLst xmlns:a="http://schemas.openxmlformats.org/drawingml/2006/main">
              <a:ext uri="{FF2B5EF4-FFF2-40B4-BE49-F238E27FC236}">
                <a16:creationId xmlns:a16="http://schemas.microsoft.com/office/drawing/2014/main" id="{E3618E5F-96F6-47A8-BB45-85E4FCF1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Fuentes para profundizar</a:t>
            </a:r>
          </a:p>
        </p:txBody>
      </p:sp>
      <p:sp>
        <p:nvSpPr>
          <p:cNvPr id="3" name="Consulta: 31/08/2026 · Enlaces completos en las notas y títulos e">
            <a:extLst xmlns:a="http://schemas.openxmlformats.org/drawingml/2006/main">
              <a:ext uri="{FF2B5EF4-FFF2-40B4-BE49-F238E27FC236}">
                <a16:creationId xmlns:a16="http://schemas.microsoft.com/office/drawing/2014/main" id="{71D7DC27-37D3-4A91-AC84-2CEF7B2F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Consulta: 31/08/2026 · Enlaces completos en las notas y títulos enlazados</a:t>
            </a:r>
          </a:p>
        </p:txBody>
      </p:sp>
      <p:sp>
        <p:nvSpPr>
          <p:cNvPr id="4" name="36">
            <a:extLst xmlns:a="http://schemas.openxmlformats.org/drawingml/2006/main">
              <a:ext uri="{FF2B5EF4-FFF2-40B4-BE49-F238E27FC236}">
                <a16:creationId xmlns:a16="http://schemas.microsoft.com/office/drawing/2014/main" id="{87A3578E-94BB-4549-8F0C-EF766F45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5" name="Komatsu · telemática y My Komatsu">
            <a:extLst xmlns:a="http://schemas.openxmlformats.org/drawingml/2006/main">
              <a:ext uri="{FF2B5EF4-FFF2-40B4-BE49-F238E27FC236}">
                <a16:creationId xmlns:a16="http://schemas.microsoft.com/office/drawing/2014/main" id="{DBA796E9-CE67-49B0-A227-96C750EA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3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5DB5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e34e726e942d4464"/>
              </a:rPr>
              <a:t>Komatsu · telemática y My Komatsu</a:t>
            </a:r>
          </a:p>
        </p:txBody>
      </p:sp>
      <p:sp>
        <p:nvSpPr>
          <p:cNvPr id="6" name="Caterpillar · VisionLink">
            <a:extLst xmlns:a="http://schemas.openxmlformats.org/drawingml/2006/main">
              <a:ext uri="{FF2B5EF4-FFF2-40B4-BE49-F238E27FC236}">
                <a16:creationId xmlns:a16="http://schemas.microsoft.com/office/drawing/2014/main" id="{3DD6D0A3-E062-4EFC-A289-3E565792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1123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5DB5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6a868d905536452e"/>
              </a:rPr>
              <a:t>Caterpillar · VisionLink</a:t>
            </a:r>
          </a:p>
        </p:txBody>
      </p:sp>
      <p:sp>
        <p:nvSpPr>
          <p:cNvPr id="7" name="MS4M · Health 4Miners">
            <a:extLst xmlns:a="http://schemas.openxmlformats.org/drawingml/2006/main">
              <a:ext uri="{FF2B5EF4-FFF2-40B4-BE49-F238E27FC236}">
                <a16:creationId xmlns:a16="http://schemas.microsoft.com/office/drawing/2014/main" id="{1FA5F6A1-8252-4381-8FFD-53355E0F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1123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5DB5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967f112b42f04a22"/>
              </a:rPr>
              <a:t>MS4M · Health 4Miners</a:t>
            </a:r>
          </a:p>
        </p:txBody>
      </p:sp>
      <p:sp>
        <p:nvSpPr>
          <p:cNvPr id="8" name="MS4M · soluciones de salud y reportes">
            <a:extLst xmlns:a="http://schemas.openxmlformats.org/drawingml/2006/main">
              <a:ext uri="{FF2B5EF4-FFF2-40B4-BE49-F238E27FC236}">
                <a16:creationId xmlns:a16="http://schemas.microsoft.com/office/drawing/2014/main" id="{0374139A-F4E7-4239-B4FC-75F1A0BB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1123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5DB5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f42a0be82e274108"/>
              </a:rPr>
              <a:t>MS4M · soluciones de salud y reportes</a:t>
            </a:r>
          </a:p>
        </p:txBody>
      </p:sp>
      <p:sp>
        <p:nvSpPr>
          <p:cNvPr id="9" name="Hexagon · OP Pro y brochure">
            <a:extLst xmlns:a="http://schemas.openxmlformats.org/drawingml/2006/main">
              <a:ext uri="{FF2B5EF4-FFF2-40B4-BE49-F238E27FC236}">
                <a16:creationId xmlns:a16="http://schemas.microsoft.com/office/drawing/2014/main" id="{D4562D5D-5C41-4E58-A25C-5FF8EF56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1123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5DB5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3713ceb297434b9c"/>
              </a:rPr>
              <a:t>Hexagon · OP Pro y brochure</a:t>
            </a:r>
          </a:p>
        </p:txBody>
      </p:sp>
      <p:sp>
        <p:nvSpPr>
          <p:cNvPr id="10" name="Ferreyros · conectividad">
            <a:extLst xmlns:a="http://schemas.openxmlformats.org/drawingml/2006/main">
              <a:ext uri="{FF2B5EF4-FFF2-40B4-BE49-F238E27FC236}">
                <a16:creationId xmlns:a16="http://schemas.microsoft.com/office/drawing/2014/main" id="{8621B231-63AC-4AF9-9EDB-1EE89FC2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1123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5DB5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d355df65f3234c17"/>
              </a:rPr>
              <a:t>Ferreyros · conectividad</a:t>
            </a:r>
          </a:p>
        </p:txBody>
      </p:sp>
      <p:sp>
        <p:nvSpPr>
          <p:cNvPr id="11" name="Ferreyros · VisionLink Productivity, 2024">
            <a:extLst xmlns:a="http://schemas.openxmlformats.org/drawingml/2006/main">
              <a:ext uri="{FF2B5EF4-FFF2-40B4-BE49-F238E27FC236}">
                <a16:creationId xmlns:a16="http://schemas.microsoft.com/office/drawing/2014/main" id="{CF5E8156-A4FD-4E09-8F6A-78C2EE52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1123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5DB5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0e18afc0a556402e"/>
              </a:rPr>
              <a:t>Ferreyros · VisionLink Productivity, 2024</a:t>
            </a:r>
          </a:p>
        </p:txBody>
      </p:sp>
    </p:spTree>
    <p:extLst>
      <p:ext uri="{BB962C8B-B14F-4D97-AF65-F5344CB8AC3E}">
        <p14:creationId xmlns:p14="http://schemas.microsoft.com/office/powerpoint/2010/main" val="185269038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DECISIÓN DE DISEÑO">
            <a:extLst xmlns:a="http://schemas.openxmlformats.org/drawingml/2006/main">
              <a:ext uri="{FF2B5EF4-FFF2-40B4-BE49-F238E27FC236}">
                <a16:creationId xmlns:a16="http://schemas.microsoft.com/office/drawing/2014/main" id="{12D43AA5-C2DA-4390-97B7-3D02D447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DECISIÓN DE DISEÑO</a:t>
            </a:r>
          </a:p>
        </p:txBody>
      </p:sp>
      <p:sp>
        <p:nvSpPr>
          <p:cNvPr id="2" name="La propuesta a validar contigo">
            <a:extLst xmlns:a="http://schemas.openxmlformats.org/drawingml/2006/main">
              <a:ext uri="{FF2B5EF4-FFF2-40B4-BE49-F238E27FC236}">
                <a16:creationId xmlns:a16="http://schemas.microsoft.com/office/drawing/2014/main" id="{E53A3F02-7F06-4931-874A-702E1AB1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11277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La propuesta a validar contigo</a:t>
            </a:r>
          </a:p>
        </p:txBody>
      </p:sp>
      <p:sp>
        <p:nvSpPr>
          <p:cNvPr id="3" name="Propuesta MINTRONICK · Reglas y datos de ejemplo por validar">
            <a:extLst xmlns:a="http://schemas.openxmlformats.org/drawingml/2006/main">
              <a:ext uri="{FF2B5EF4-FFF2-40B4-BE49-F238E27FC236}">
                <a16:creationId xmlns:a16="http://schemas.microsoft.com/office/drawing/2014/main" id="{CE145CF3-4C64-4025-A100-9F3141D5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Propuesta MINTRONICK · Reglas y datos de ejemplo por validar</a:t>
            </a:r>
          </a:p>
        </p:txBody>
      </p:sp>
      <p:sp>
        <p:nvSpPr>
          <p:cNvPr id="4" name="37">
            <a:extLst xmlns:a="http://schemas.openxmlformats.org/drawingml/2006/main">
              <a:ext uri="{FF2B5EF4-FFF2-40B4-BE49-F238E27FC236}">
                <a16:creationId xmlns:a16="http://schemas.microsoft.com/office/drawing/2014/main" id="{34AC4A7F-DB4E-49AF-AB6B-59CB9775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5" name="Mantener">
            <a:extLst xmlns:a="http://schemas.openxmlformats.org/drawingml/2006/main">
              <a:ext uri="{FF2B5EF4-FFF2-40B4-BE49-F238E27FC236}">
                <a16:creationId xmlns:a16="http://schemas.microsoft.com/office/drawing/2014/main" id="{3034AAAA-73D9-4954-AFAE-FA3B27E0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Mantener</a:t>
            </a:r>
          </a:p>
        </p:txBody>
      </p:sp>
      <p:sp>
        <p:nvSpPr>
          <p:cNvPr id="6" name="Lista completa de equipos, mapa general e individual, historial y">
            <a:extLst xmlns:a="http://schemas.openxmlformats.org/drawingml/2006/main">
              <a:ext uri="{FF2B5EF4-FFF2-40B4-BE49-F238E27FC236}">
                <a16:creationId xmlns:a16="http://schemas.microsoft.com/office/drawing/2014/main" id="{32E1A935-0CFA-4144-A084-5E24561A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Lista completa de equipos, mapa general e individual, historial y reportes.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Son las bases de tu idea.</a:t>
            </a:r>
          </a:p>
        </p:txBody>
      </p:sp>
      <p:sp>
        <p:nvSpPr>
          <p:cNvPr id="7" name="Añadir">
            <a:extLst xmlns:a="http://schemas.openxmlformats.org/drawingml/2006/main">
              <a:ext uri="{FF2B5EF4-FFF2-40B4-BE49-F238E27FC236}">
                <a16:creationId xmlns:a16="http://schemas.microsoft.com/office/drawing/2014/main" id="{33E1164B-A152-4D76-B659-87DD8B4E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Añadir</a:t>
            </a:r>
          </a:p>
        </p:txBody>
      </p:sp>
      <p:sp>
        <p:nvSpPr>
          <p:cNvPr id="8" name="Alertas con seguimiento, mantenimiento y calidad de datos.&#10;&#10;Cada ">
            <a:extLst xmlns:a="http://schemas.openxmlformats.org/drawingml/2006/main">
              <a:ext uri="{FF2B5EF4-FFF2-40B4-BE49-F238E27FC236}">
                <a16:creationId xmlns:a16="http://schemas.microsoft.com/office/drawing/2014/main" id="{24CF3196-BE55-4664-8FCE-207BA99B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Alertas con seguimiento, mantenimiento y calidad de datos.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Cada página termina en una decisión.</a:t>
            </a:r>
          </a:p>
        </p:txBody>
      </p:sp>
      <p:sp>
        <p:nvSpPr>
          <p:cNvPr id="9" name="Acordar antes de construir">
            <a:extLst xmlns:a="http://schemas.openxmlformats.org/drawingml/2006/main">
              <a:ext uri="{FF2B5EF4-FFF2-40B4-BE49-F238E27FC236}">
                <a16:creationId xmlns:a16="http://schemas.microsoft.com/office/drawing/2014/main" id="{9748F5B6-8704-410B-BD42-6DA5D4F5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05000"/>
            <a:ext cx="337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32D"/>
                </a:solidFill>
                <a:latin typeface="Arial"/>
                <a:ea typeface="Arial"/>
                <a:cs typeface="Arial"/>
              </a:rPr>
              <a:t>Acordar antes de construir</a:t>
            </a:r>
          </a:p>
        </p:txBody>
      </p:sp>
      <p:sp>
        <p:nvSpPr>
          <p:cNvPr id="10" name="Equipos y sensores disponibles; umbrales por modelo y zona; estad">
            <a:extLst xmlns:a="http://schemas.openxmlformats.org/drawingml/2006/main">
              <a:ext uri="{FF2B5EF4-FFF2-40B4-BE49-F238E27FC236}">
                <a16:creationId xmlns:a16="http://schemas.microsoft.com/office/drawing/2014/main" id="{4BC03F58-E869-4E04-AD90-57E2168E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3371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36D"/>
                </a:solidFill>
                <a:latin typeface="Arial"/>
                <a:ea typeface="Arial"/>
                <a:cs typeface="Arial"/>
              </a:rPr>
              <a:t>Equipos y sensores disponibles; umbrales por modelo y zona; estados del turno; roles y reporte prioritario.</a:t>
            </a:r>
          </a:p>
        </p:txBody>
      </p:sp>
      <p:sp>
        <p:nvSpPr>
          <p:cNvPr id="11" name="Una pantalla funciona cuando el cliente entiende qué ocurre, por ">
            <a:extLst xmlns:a="http://schemas.openxmlformats.org/drawingml/2006/main">
              <a:ext uri="{FF2B5EF4-FFF2-40B4-BE49-F238E27FC236}">
                <a16:creationId xmlns:a16="http://schemas.microsoft.com/office/drawing/2014/main" id="{617F91A6-DC79-458F-99EF-8B69C6EB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48325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86"/>
                </a:solidFill>
                <a:latin typeface="Arial"/>
                <a:ea typeface="Arial"/>
                <a:cs typeface="Arial"/>
              </a:rPr>
              <a:t>Una pantalla funciona cuando el cliente entiende qué ocurre, por qué importa y qué puede hacer.</a:t>
            </a:r>
          </a:p>
        </p:txBody>
      </p:sp>
    </p:spTree>
    <p:extLst>
      <p:ext uri="{BB962C8B-B14F-4D97-AF65-F5344CB8AC3E}">
        <p14:creationId xmlns:p14="http://schemas.microsoft.com/office/powerpoint/2010/main" val="736487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2026-08-31T15:36:20.9680000Z</dcterms:created>
  <dcterms:modified xsi:type="dcterms:W3CDTF">2026-08-31T15:36:20.9680000Z</dcterms:modified>
</coreProperties>
</file>